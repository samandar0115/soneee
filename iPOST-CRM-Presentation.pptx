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058400" y="-2743200"/>
            <a:ext cx="6400800" cy="6400800"/>
          </a:xfrm>
          <a:prstGeom prst="ellipse">
            <a:avLst/>
          </a:prstGeom>
          <a:solidFill>
            <a:srgbClr val="2F66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4572000"/>
            <a:ext cx="4572000" cy="4572000"/>
          </a:xfrm>
          <a:prstGeom prst="ellipse">
            <a:avLst/>
          </a:prstGeom>
          <a:solidFill>
            <a:srgbClr val="D9E6FF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120640" y="1463040"/>
            <a:ext cx="1828800" cy="1828800"/>
          </a:xfrm>
          <a:prstGeom prst="roundRect">
            <a:avLst>
              <a:gd name="adj" fmla="val 30000"/>
            </a:avLst>
          </a:prstGeom>
          <a:solidFill>
            <a:srgbClr val="2F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0">
                <a:solidFill>
                  <a:srgbClr val="FFFFFF"/>
                </a:solidFill>
              </a:rPr>
              <a:t>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657600"/>
            <a:ext cx="121916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0" b="1">
                <a:solidFill>
                  <a:srgbClr val="1939C4"/>
                </a:solidFill>
                <a:latin typeface="Inter"/>
              </a:rPr>
              <a:t>iPOST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754880"/>
            <a:ext cx="121916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64748B"/>
                </a:solidFill>
                <a:latin typeface="Inter"/>
              </a:rPr>
              <a:t>Call Center Virtual Control Room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48640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Inter"/>
              </a:rPr>
              <a:t>Cargo va call-center mijoz murojaatlarini boshqaruvchi yagona platforma</a:t>
            </a:r>
          </a:p>
        </p:txBody>
      </p:sp>
      <p:sp>
        <p:nvSpPr>
          <p:cNvPr id="8" name="Oval 7"/>
          <p:cNvSpPr/>
          <p:nvPr/>
        </p:nvSpPr>
        <p:spPr>
          <a:xfrm>
            <a:off x="5669280" y="6217920"/>
            <a:ext cx="182880" cy="182880"/>
          </a:xfrm>
          <a:prstGeom prst="ellipse">
            <a:avLst/>
          </a:prstGeom>
          <a:solidFill>
            <a:srgbClr val="2F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035040" y="6217920"/>
            <a:ext cx="182880" cy="1828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0" y="6217920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4" presetClass="entr" presetSubtype="0" fill="hold" grpId="0" nodeType="click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6" presetClass="entr" presetSubtype="0" fill="hold" grpId="0" nodeType="click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6" presetClass="entr" presetSubtype="0" fill="hold" grpId="0" nodeType="click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6" presetClass="entr" presetSubtype="0" fill="hold" grpId="0" nodeType="click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058400" y="-2743200"/>
            <a:ext cx="6400800" cy="6400800"/>
          </a:xfrm>
          <a:prstGeom prst="ellipse">
            <a:avLst/>
          </a:prstGeom>
          <a:solidFill>
            <a:srgbClr val="2F66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4572000"/>
            <a:ext cx="4572000" cy="4572000"/>
          </a:xfrm>
          <a:prstGeom prst="ellipse">
            <a:avLst/>
          </a:prstGeom>
          <a:solidFill>
            <a:srgbClr val="D9E6FF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939C4"/>
                </a:solidFill>
                <a:latin typeface="Inter"/>
              </a:rPr>
              <a:t>Cargo call-center muammolari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Inter"/>
              </a:rPr>
              <a:t>Kunlik ishda operatorlar duch keladigan asosiy qiyinchiliklar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3657600" cy="20116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731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0">
                <a:solidFill>
                  <a:srgbClr val="0F172A"/>
                </a:solidFill>
                <a:latin typeface="Inter"/>
              </a:rPr>
              <a:t>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Tarqoq ma'lumotlar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5468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Excel, daftar, Telegram chat — bir mijoz haqida 4 joyda yozuv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920240"/>
            <a:ext cx="3657600" cy="20116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057400"/>
            <a:ext cx="731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0">
                <a:solidFill>
                  <a:srgbClr val="0F172A"/>
                </a:solidFill>
                <a:latin typeface="Inter"/>
              </a:rPr>
              <a:t>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69748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Sekin javob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15468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Mijoz qo'ng'iroq qildi — operator 5 daqiqa qidiradi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920240"/>
            <a:ext cx="3657600" cy="20116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2057400"/>
            <a:ext cx="731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0">
                <a:solidFill>
                  <a:srgbClr val="0F172A"/>
                </a:solidFill>
                <a:latin typeface="Inter"/>
              </a:rPr>
              <a:t>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69748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Yo'qotilgan murojaatlar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15468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Kim qachon nima qildi noma'lum — javobgarlik yo'q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06240"/>
            <a:ext cx="3657600" cy="20116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343400"/>
            <a:ext cx="731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0">
                <a:solidFill>
                  <a:srgbClr val="0F172A"/>
                </a:solidFill>
                <a:latin typeface="Inter"/>
              </a:rPr>
              <a:t>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98348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KPI ko'rinmaydi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44068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Qaysi operator yaxshi ishlayotgani admin'ga noma'lum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9120" y="4206240"/>
            <a:ext cx="3657600" cy="20116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4343400"/>
            <a:ext cx="731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0">
                <a:solidFill>
                  <a:srgbClr val="0F172A"/>
                </a:solidFill>
                <a:latin typeface="Inter"/>
              </a:rPr>
              <a:t>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98348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Bir xil javoblar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544068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Har bir operator har gal o'zicha matn yozadi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0" y="4206240"/>
            <a:ext cx="3657600" cy="20116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0" y="4343400"/>
            <a:ext cx="731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0">
                <a:solidFill>
                  <a:srgbClr val="0F172A"/>
                </a:solidFill>
                <a:latin typeface="Inter"/>
              </a:rPr>
              <a:t>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98348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Mijoz portali yo'q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544068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Mijoz har safar qo'ng'iroq qilib so'raydi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5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3" presetClass="entr" presetSubtype="0" fill="hold" grpId="0" nodeType="click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54" presetClass="entr" presetSubtype="0" fill="hold" grpId="0" nodeType="click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3" presetClass="entr" presetSubtype="0" fill="hold" grpId="0" nodeType="click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grpId="0" nodeType="click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54" presetClass="entr" presetSubtype="0" fill="hold" grpId="0" nodeType="click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23" presetClass="entr" presetSubtype="0" fill="hold" grpId="0" nodeType="click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0" presetClass="entr" presetSubtype="0" fill="hold" grpId="0" nodeType="click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4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0" presetClass="entr" presetSubtype="0" fill="hold" grpId="0" nodeType="click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0" fill="hold">
                      <p:stCondLst>
                        <p:cond delay="indefinite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54" presetClass="entr" presetSubtype="0" fill="hold" grpId="0" nodeType="click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indefinite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23" presetClass="entr" presetSubtype="0" fill="hold" grpId="0" nodeType="click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4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>
                      <p:stCondLst>
                        <p:cond delay="indefinite"/>
                      </p:stCondLst>
                      <p:childTnLst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72" presetID="10" presetClass="entr" presetSubtype="0" fill="hold" grpId="0" nodeType="click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4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0" fill="hold">
                      <p:stCondLst>
                        <p:cond delay="indefinite"/>
                      </p:stCondLst>
                      <p:childTnLst>
                        <p:par>
                          <p:cTn id="181" fill="hold">
                            <p:stCondLst>
                              <p:cond delay="0"/>
                            </p:stCondLst>
                            <p:childTnLst>
                              <p:par>
                                <p:cTn id="182" presetID="10" presetClass="entr" presetSubtype="0" fill="hold" grpId="0" nodeType="click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4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0" fill="hold">
                      <p:stCondLst>
                        <p:cond delay="indefinite"/>
                      </p:stCondLst>
                      <p:childTnLst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92" presetID="54" presetClass="entr" presetSubtype="0" fill="hold" grpId="0" nodeType="click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0" fill="hold">
                      <p:stCondLst>
                        <p:cond delay="indefinite"/>
                      </p:stCondLst>
                      <p:childTnLst>
                        <p:par>
                          <p:cTn id="201" fill="hold">
                            <p:stCondLst>
                              <p:cond delay="0"/>
                            </p:stCondLst>
                            <p:childTnLst>
                              <p:par>
                                <p:cTn id="202" presetID="23" presetClass="entr" presetSubtype="0" fill="hold" grpId="0" nodeType="click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4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" fill="hold">
                      <p:stCondLst>
                        <p:cond delay="indefinite"/>
                      </p:stCondLst>
                      <p:childTnLst>
                        <p:par>
                          <p:cTn id="211" fill="hold">
                            <p:stCondLst>
                              <p:cond delay="0"/>
                            </p:stCondLst>
                            <p:childTnLst>
                              <p:par>
                                <p:cTn id="212" presetID="10" presetClass="entr" presetSubtype="0" fill="hold" grpId="0" nodeType="click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4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0" fill="hold">
                      <p:stCondLst>
                        <p:cond delay="indefinite"/>
                      </p:stCondLst>
                      <p:childTnLst>
                        <p:par>
                          <p:cTn id="221" fill="hold">
                            <p:stCondLst>
                              <p:cond delay="0"/>
                            </p:stCondLst>
                            <p:childTnLst>
                              <p:par>
                                <p:cTn id="222" presetID="10" presetClass="entr" presetSubtype="0" fill="hold" grpId="0" nodeType="click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4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0" fill="hold">
                      <p:stCondLst>
                        <p:cond delay="indefinite"/>
                      </p:stCondLst>
                      <p:childTnLst>
                        <p:par>
                          <p:cTn id="231" fill="hold">
                            <p:stCondLst>
                              <p:cond delay="0"/>
                            </p:stCondLst>
                            <p:childTnLst>
                              <p:par>
                                <p:cTn id="232" presetID="54" presetClass="entr" presetSubtype="0" fill="hold" grpId="0" nodeType="click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0" fill="hold">
                      <p:stCondLst>
                        <p:cond delay="indefinite"/>
                      </p:stCondLst>
                      <p:childTnLst>
                        <p:par>
                          <p:cTn id="241" fill="hold">
                            <p:stCondLst>
                              <p:cond delay="0"/>
                            </p:stCondLst>
                            <p:childTnLst>
                              <p:par>
                                <p:cTn id="242" presetID="23" presetClass="entr" presetSubtype="0" fill="hold" grpId="0" nodeType="click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4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0" fill="hold">
                      <p:stCondLst>
                        <p:cond delay="indefinite"/>
                      </p:stCondLst>
                      <p:childTnLst>
                        <p:par>
                          <p:cTn id="251" fill="hold">
                            <p:stCondLst>
                              <p:cond delay="0"/>
                            </p:stCondLst>
                            <p:childTnLst>
                              <p:par>
                                <p:cTn id="252" presetID="10" presetClass="entr" presetSubtype="0" fill="hold" grpId="0" nodeType="click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4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0" fill="hold">
                      <p:stCondLst>
                        <p:cond delay="indefinite"/>
                      </p:stCondLst>
                      <p:childTnLst>
                        <p:par>
                          <p:cTn id="261" fill="hold">
                            <p:stCondLst>
                              <p:cond delay="0"/>
                            </p:stCondLst>
                            <p:childTnLst>
                              <p:par>
                                <p:cTn id="262" presetID="10" presetClass="entr" presetSubtype="0" fill="hold" grpId="0" nodeType="click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2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4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058400" y="-2743200"/>
            <a:ext cx="6400800" cy="6400800"/>
          </a:xfrm>
          <a:prstGeom prst="ellipse">
            <a:avLst/>
          </a:prstGeom>
          <a:solidFill>
            <a:srgbClr val="2F66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4572000"/>
            <a:ext cx="4572000" cy="4572000"/>
          </a:xfrm>
          <a:prstGeom prst="ellipse">
            <a:avLst/>
          </a:prstGeom>
          <a:solidFill>
            <a:srgbClr val="D9E6FF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939C4"/>
                </a:solidFill>
                <a:latin typeface="Inter"/>
              </a:rPr>
              <a:t>iPOST CRM — yagona yechim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Inter"/>
              </a:rPr>
              <a:t>Real vaqt rejimida 20+ operator uchun ishlab chiqilgan zamonaviy CRM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0" y="2286000"/>
            <a:ext cx="3931920" cy="3931920"/>
          </a:xfrm>
          <a:prstGeom prst="roundRect">
            <a:avLst>
              <a:gd name="adj" fmla="val 10000"/>
            </a:avLst>
          </a:prstGeom>
          <a:solidFill>
            <a:srgbClr val="2F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0" y="2560320"/>
            <a:ext cx="3931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0" b="0">
                <a:solidFill>
                  <a:srgbClr val="0F172A"/>
                </a:solidFill>
                <a:latin typeface="Inter"/>
              </a:rPr>
              <a:t>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3931920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Inter"/>
              </a:rPr>
              <a:t>iPOST CRM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4663440"/>
            <a:ext cx="39319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D9E6FF"/>
                </a:solidFill>
                <a:latin typeface="Inter"/>
              </a:rPr>
              <a:t>Real-time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D9E6FF"/>
                </a:solidFill>
                <a:latin typeface="Inter"/>
              </a:rPr>
              <a:t>Multi-language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D9E6FF"/>
                </a:solidFill>
                <a:latin typeface="Inter"/>
              </a:rPr>
              <a:t>Face ID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D9E6FF"/>
                </a:solidFill>
                <a:latin typeface="Inter"/>
              </a:rPr>
              <a:t>Mobile-ready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86000"/>
            <a:ext cx="3200400" cy="1828800"/>
          </a:xfrm>
          <a:prstGeom prst="roundRect">
            <a:avLst>
              <a:gd name="adj" fmla="val 10000"/>
            </a:avLst>
          </a:prstGeom>
          <a:solidFill>
            <a:srgbClr val="D9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468880"/>
            <a:ext cx="3200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0F172A"/>
                </a:solidFill>
                <a:latin typeface="Inter"/>
              </a:rPr>
              <a:t>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91840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9C4"/>
                </a:solidFill>
                <a:latin typeface="Inter"/>
              </a:rPr>
              <a:t>Operatorlar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389120"/>
            <a:ext cx="3200400" cy="1828800"/>
          </a:xfrm>
          <a:prstGeom prst="roundRect">
            <a:avLst>
              <a:gd name="adj" fmla="val 10000"/>
            </a:avLst>
          </a:prstGeom>
          <a:solidFill>
            <a:srgbClr val="D9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572000"/>
            <a:ext cx="3200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0F172A"/>
                </a:solidFill>
                <a:latin typeface="Inter"/>
              </a:rPr>
              <a:t>👨‍💼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394960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9C4"/>
                </a:solidFill>
                <a:latin typeface="Inter"/>
              </a:rPr>
              <a:t>Adminlar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0" y="2286000"/>
            <a:ext cx="3200400" cy="1828800"/>
          </a:xfrm>
          <a:prstGeom prst="roundRect">
            <a:avLst>
              <a:gd name="adj" fmla="val 10000"/>
            </a:avLst>
          </a:prstGeom>
          <a:solidFill>
            <a:srgbClr val="D9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468880"/>
            <a:ext cx="3200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0F172A"/>
                </a:solidFill>
                <a:latin typeface="Inter"/>
              </a:rPr>
              <a:t>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291840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9C4"/>
                </a:solidFill>
                <a:latin typeface="Inter"/>
              </a:rPr>
              <a:t>Mijozlar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0" y="4389120"/>
            <a:ext cx="3200400" cy="1828800"/>
          </a:xfrm>
          <a:prstGeom prst="roundRect">
            <a:avLst>
              <a:gd name="adj" fmla="val 10000"/>
            </a:avLst>
          </a:prstGeom>
          <a:solidFill>
            <a:srgbClr val="D9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4572000"/>
            <a:ext cx="3200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0F172A"/>
                </a:solidFill>
                <a:latin typeface="Inter"/>
              </a:rPr>
              <a:t>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5394960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9C4"/>
                </a:solidFill>
                <a:latin typeface="Inter"/>
              </a:rPr>
              <a:t>Boshqaruv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3" presetClass="entr" presetSubtype="0" fill="hold" grpId="0" nodeType="click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6" presetClass="entr" presetSubtype="0" fill="hold" grpId="0" nodeType="click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" presetClass="entr" presetSubtype="4" fill="hold" grpId="0" nodeType="click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" presetClass="entr" presetSubtype="4" fill="hold" grpId="0" nodeType="click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" presetClass="entr" presetSubtype="8" fill="hold" grpId="0" nodeType="click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2" presetClass="entr" presetSubtype="8" fill="hold" grpId="0" nodeType="clickEffect">
                                  <p:stCondLst>
                                    <p:cond delay="295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058400" y="-2743200"/>
            <a:ext cx="6400800" cy="6400800"/>
          </a:xfrm>
          <a:prstGeom prst="ellipse">
            <a:avLst/>
          </a:prstGeom>
          <a:solidFill>
            <a:srgbClr val="2F66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4572000"/>
            <a:ext cx="4572000" cy="4572000"/>
          </a:xfrm>
          <a:prstGeom prst="ellipse">
            <a:avLst/>
          </a:prstGeom>
          <a:solidFill>
            <a:srgbClr val="D9E6FF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939C4"/>
                </a:solidFill>
                <a:latin typeface="Inter"/>
              </a:rPr>
              <a:t>Ikki xil kirish usuli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Inter"/>
              </a:rPr>
              <a:t>Har bir xodim o'ziga qulay yo'lni tanlaydi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03120"/>
            <a:ext cx="5029200" cy="4114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F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5029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800" b="0">
                <a:solidFill>
                  <a:srgbClr val="0F172A"/>
                </a:solidFill>
                <a:latin typeface="Inter"/>
              </a:rPr>
              <a:t>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1752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939C4"/>
                </a:solidFill>
                <a:latin typeface="Inter"/>
              </a:rPr>
              <a:t>Parol orqali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65760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F172A"/>
                </a:solidFill>
                <a:latin typeface="Inter"/>
              </a:rPr>
              <a:t>• Username + parol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02336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F172A"/>
                </a:solidFill>
                <a:latin typeface="Inter"/>
              </a:rPr>
              <a:t>• Tezkor va oddiy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38912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F172A"/>
                </a:solidFill>
                <a:latin typeface="Inter"/>
              </a:rPr>
              <a:t>• Admin har bir xodimga beradi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7548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F172A"/>
                </a:solidFill>
                <a:latin typeface="Inter"/>
              </a:rPr>
              <a:t>• Smena almashinishida qulay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03120"/>
            <a:ext cx="5029200" cy="4114800"/>
          </a:xfrm>
          <a:prstGeom prst="roundRect">
            <a:avLst>
              <a:gd name="adj" fmla="val 10000"/>
            </a:avLst>
          </a:prstGeom>
          <a:solidFill>
            <a:srgbClr val="2F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2286000"/>
            <a:ext cx="5029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800" b="0">
                <a:solidFill>
                  <a:srgbClr val="0F172A"/>
                </a:solidFill>
                <a:latin typeface="Inter"/>
              </a:rPr>
              <a:t>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301752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Inter"/>
              </a:rPr>
              <a:t>Face ID (yuz)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65760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Inter"/>
              </a:rPr>
              <a:t>• Kamera orqali tanish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02336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Inter"/>
              </a:rPr>
              <a:t>• AI-based face matching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438912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Inter"/>
              </a:rPr>
              <a:t>• Parol kerakmas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47548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Inter"/>
              </a:rPr>
              <a:t>• Xavfsiz va tezkor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4" fill="hold" grpId="0" nodeType="click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" presetClass="entr" presetSubtype="8" fill="hold" grpId="0" nodeType="click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click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grpId="0" nodeType="click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4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grpId="0" nodeType="click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0" presetClass="entr" presetSubtype="0" fill="hold" grpId="0" nodeType="click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058400" y="-2743200"/>
            <a:ext cx="6400800" cy="6400800"/>
          </a:xfrm>
          <a:prstGeom prst="ellipse">
            <a:avLst/>
          </a:prstGeom>
          <a:solidFill>
            <a:srgbClr val="2F66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4572000"/>
            <a:ext cx="4572000" cy="4572000"/>
          </a:xfrm>
          <a:prstGeom prst="ellipse">
            <a:avLst/>
          </a:prstGeom>
          <a:solidFill>
            <a:srgbClr val="D9E6FF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939C4"/>
                </a:solidFill>
                <a:latin typeface="Inter"/>
              </a:rPr>
              <a:t>Boshqaruv paneli (Dashboard)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Inter"/>
              </a:rPr>
              <a:t>Bir qarashda butun tizim holati — KPI, ogohlantirish, operator yuklamasi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F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731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0F172A"/>
                </a:solidFill>
                <a:latin typeface="Inter"/>
              </a:rPr>
              <a:t>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011680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4748B"/>
                </a:solidFill>
                <a:latin typeface="Inter"/>
              </a:rPr>
              <a:t>Jami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31720"/>
            <a:ext cx="2468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F66FF"/>
                </a:solidFill>
                <a:latin typeface="Inter"/>
              </a:rPr>
              <a:t>1,245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92024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057400"/>
            <a:ext cx="731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0F172A"/>
                </a:solidFill>
                <a:latin typeface="Inter"/>
              </a:rPr>
              <a:t>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2011680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4748B"/>
                </a:solidFill>
                <a:latin typeface="Inter"/>
              </a:rPr>
              <a:t>Kutmoqda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2331720"/>
            <a:ext cx="2468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59E0B"/>
                </a:solidFill>
                <a:latin typeface="Inter"/>
              </a:rPr>
              <a:t>127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92024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2057400"/>
            <a:ext cx="731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0F172A"/>
                </a:solidFill>
                <a:latin typeface="Inter"/>
              </a:rPr>
              <a:t>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2011680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4748B"/>
                </a:solidFill>
                <a:latin typeface="Inter"/>
              </a:rPr>
              <a:t>Hal etildi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2331720"/>
            <a:ext cx="2468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0B981"/>
                </a:solidFill>
                <a:latin typeface="Inter"/>
              </a:rPr>
              <a:t>892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0896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F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46120"/>
            <a:ext cx="731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0F172A"/>
                </a:solidFill>
                <a:latin typeface="Inter"/>
              </a:rPr>
              <a:t>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200400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4748B"/>
                </a:solidFill>
                <a:latin typeface="Inter"/>
              </a:rPr>
              <a:t>Bugun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520440"/>
            <a:ext cx="2468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F66FF"/>
                </a:solidFill>
                <a:latin typeface="Inter"/>
              </a:rPr>
              <a:t>34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9120" y="310896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3246120"/>
            <a:ext cx="731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0F172A"/>
                </a:solidFill>
                <a:latin typeface="Inter"/>
              </a:rPr>
              <a:t>⚠️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3200400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4748B"/>
                </a:solidFill>
                <a:latin typeface="Inter"/>
              </a:rPr>
              <a:t>Kechikkan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94960" y="3520440"/>
            <a:ext cx="2468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EF4444"/>
                </a:solidFill>
                <a:latin typeface="Inter"/>
              </a:rPr>
              <a:t>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0" y="310896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0" y="3246120"/>
            <a:ext cx="731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0">
                <a:solidFill>
                  <a:srgbClr val="0F172A"/>
                </a:solidFill>
                <a:latin typeface="Inter"/>
              </a:rPr>
              <a:t>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3200400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4748B"/>
                </a:solidFill>
                <a:latin typeface="Inter"/>
              </a:rPr>
              <a:t>Eskirgan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520440"/>
            <a:ext cx="2468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59E0B"/>
                </a:solidFill>
                <a:latin typeface="Inter"/>
              </a:rPr>
              <a:t>12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572000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75488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B91C1C"/>
                </a:solidFill>
                <a:latin typeface="Inter"/>
              </a:rPr>
              <a:t>⚠ Diqqat: 8 ta SLA kechikkan, 12 ta murojaat 5 kundan beri yangilanmagan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7607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Inter"/>
              </a:rPr>
              <a:t>Operator yuklamasi · Top muammolar · Shoshilinch ro'yxat — hammasi bir ekranda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3" presetClass="entr" presetSubtype="0" fill="hold" grpId="0" nodeType="click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3" presetClass="entr" presetSubtype="0" fill="hold" grpId="0" nodeType="click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3" presetClass="entr" presetSubtype="0" fill="hold" grpId="0" nodeType="click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3" presetClass="entr" presetSubtype="0" fill="hold" grpId="0" nodeType="click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3" presetClass="entr" presetSubtype="0" fill="hold" grpId="0" nodeType="click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" presetClass="entr" presetSubtype="2" fill="hold" grpId="0" nodeType="click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grpId="0" nodeType="click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058400" y="-2743200"/>
            <a:ext cx="6400800" cy="6400800"/>
          </a:xfrm>
          <a:prstGeom prst="ellipse">
            <a:avLst/>
          </a:prstGeom>
          <a:solidFill>
            <a:srgbClr val="2F66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4572000"/>
            <a:ext cx="4572000" cy="4572000"/>
          </a:xfrm>
          <a:prstGeom prst="ellipse">
            <a:avLst/>
          </a:prstGeom>
          <a:solidFill>
            <a:srgbClr val="D9E6FF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939C4"/>
                </a:solidFill>
                <a:latin typeface="Inter"/>
              </a:rPr>
              <a:t>Pipeline — Kanban ko'rinishi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Inter"/>
              </a:rPr>
              <a:t>Murojaatlarni bosqichdan-bosqichga drag &amp; drop bilan o'tkazing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2651760" cy="45720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196596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2F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Yangi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40280" y="1965960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F66FF"/>
                </a:solidFill>
                <a:latin typeface="Inter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468880"/>
            <a:ext cx="237744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F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514600"/>
            <a:ext cx="2103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Inter"/>
              </a:rPr>
              <a:t>Ali 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78892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Inter"/>
              </a:rPr>
              <a:t>T-1000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246119"/>
            <a:ext cx="237744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F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291839"/>
            <a:ext cx="2103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Inter"/>
              </a:rPr>
              <a:t>Sevara 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566159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Inter"/>
              </a:rPr>
              <a:t>T-1001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023360"/>
            <a:ext cx="237744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F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069080"/>
            <a:ext cx="2103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Inter"/>
              </a:rPr>
              <a:t>Aziz 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34340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Inter"/>
              </a:rPr>
              <a:t>T-1002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83280" y="1828800"/>
            <a:ext cx="2651760" cy="45720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520440" y="196596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Jarayonda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74920" y="1965960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59E0B"/>
                </a:solidFill>
                <a:latin typeface="Inter"/>
              </a:rPr>
              <a:t>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20440" y="2468880"/>
            <a:ext cx="237744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2514600"/>
            <a:ext cx="2103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Inter"/>
              </a:rPr>
              <a:t>Dilshod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78892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Inter"/>
              </a:rPr>
              <a:t>T-1010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20440" y="3246119"/>
            <a:ext cx="237744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291839"/>
            <a:ext cx="2103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Inter"/>
              </a:rPr>
              <a:t>Munira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3566159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Inter"/>
              </a:rPr>
              <a:t>T-1011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1828800"/>
            <a:ext cx="2651760" cy="45720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55080" y="196596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Qayta qo'ng'iroq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09560" y="1965960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A855F7"/>
                </a:solidFill>
                <a:latin typeface="Inter"/>
              </a:rPr>
              <a:t>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55080" y="2468880"/>
            <a:ext cx="237744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A85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2514600"/>
            <a:ext cx="2103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Inter"/>
              </a:rPr>
              <a:t>Bekzod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278892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Inter"/>
              </a:rPr>
              <a:t>T-1020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52560" y="1828800"/>
            <a:ext cx="2651760" cy="457200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189720" y="196596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Hal etildi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744200" y="1965960"/>
            <a:ext cx="8229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0B981"/>
                </a:solidFill>
                <a:latin typeface="Inter"/>
              </a:rPr>
              <a:t>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9720" y="2468880"/>
            <a:ext cx="237744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0" y="2514600"/>
            <a:ext cx="2103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Inter"/>
              </a:rPr>
              <a:t>Aziza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0" y="278892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Inter"/>
              </a:rPr>
              <a:t>T-1030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89720" y="3246119"/>
            <a:ext cx="237744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0" y="3291839"/>
            <a:ext cx="2103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Inter"/>
              </a:rPr>
              <a:t>Olim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0" y="3566159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Inter"/>
              </a:rPr>
              <a:t>T-1031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89720" y="4023360"/>
            <a:ext cx="237744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0" y="4069080"/>
            <a:ext cx="2103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Inter"/>
              </a:rPr>
              <a:t>Karim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0" y="434340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Inter"/>
              </a:rPr>
              <a:t>T-1032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189720" y="4800600"/>
            <a:ext cx="237744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26880" y="4846320"/>
            <a:ext cx="2103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172A"/>
                </a:solidFill>
                <a:latin typeface="Inter"/>
              </a:rPr>
              <a:t>Vali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26880" y="512064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48B"/>
                </a:solidFill>
                <a:latin typeface="Inter"/>
              </a:rPr>
              <a:t>T-1033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1" fill="hold" grpId="0" nodeType="click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" presetClass="entr" presetSubtype="1" fill="hold" grpId="0" nodeType="click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3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click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3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2" presetClass="entr" presetSubtype="1" fill="hold" grpId="0" nodeType="click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grpId="0" nodeType="click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3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2" presetClass="entr" presetSubtype="1" fill="hold" grpId="0" nodeType="click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0" presetClass="entr" presetSubtype="0" fill="hold" grpId="0" nodeType="click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4" dur="3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0" presetClass="entr" presetSubtype="0" fill="hold" grpId="0" nodeType="click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3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0" fill="hold">
                      <p:stCondLst>
                        <p:cond delay="indefinite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10" presetClass="entr" presetSubtype="0" fill="hold" grpId="0" nodeType="click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4" dur="3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indefinite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10" presetClass="entr" presetSubtype="0" fill="hold" grpId="0" nodeType="click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4" dur="3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058400" y="-2743200"/>
            <a:ext cx="6400800" cy="6400800"/>
          </a:xfrm>
          <a:prstGeom prst="ellipse">
            <a:avLst/>
          </a:prstGeom>
          <a:solidFill>
            <a:srgbClr val="2F66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4572000"/>
            <a:ext cx="4572000" cy="4572000"/>
          </a:xfrm>
          <a:prstGeom prst="ellipse">
            <a:avLst/>
          </a:prstGeom>
          <a:solidFill>
            <a:srgbClr val="D9E6FF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939C4"/>
                </a:solidFill>
                <a:latin typeface="Inter"/>
              </a:rPr>
              <a:t>Murojaatlar — 10,000+ uchun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Inter"/>
              </a:rPr>
              <a:t>Katta hajmdagi ma'lumotlarni boshqarish uchun maxsus optimallashtirilgan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F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Inter"/>
              </a:rPr>
              <a:t>Mening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1920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F66FF"/>
                </a:solidFill>
                <a:latin typeface="Inter"/>
              </a:rPr>
              <a:t>47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88920" y="182880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1920240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Inter"/>
              </a:rPr>
              <a:t>Bugun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194560"/>
            <a:ext cx="1920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172A"/>
                </a:solidFill>
                <a:latin typeface="Inter"/>
              </a:rPr>
              <a:t>34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182880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66360" y="1920240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Inter"/>
              </a:rPr>
              <a:t>Kechikkan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2194560"/>
            <a:ext cx="1920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EF4444"/>
                </a:solidFill>
                <a:latin typeface="Inter"/>
              </a:rPr>
              <a:t>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69480" y="182880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1920240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Inter"/>
              </a:rPr>
              <a:t>Eskirgan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2194560"/>
            <a:ext cx="1920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59E0B"/>
                </a:solidFill>
                <a:latin typeface="Inter"/>
              </a:rPr>
              <a:t>12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09760" y="182880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1920240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48B"/>
                </a:solidFill>
                <a:latin typeface="Inter"/>
              </a:rPr>
              <a:t>Biriktirilmagan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2194560"/>
            <a:ext cx="1920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172A"/>
                </a:solidFill>
                <a:latin typeface="Inter"/>
              </a:rPr>
              <a:t>23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108960"/>
            <a:ext cx="5486400" cy="1005840"/>
          </a:xfrm>
          <a:prstGeom prst="roundRect">
            <a:avLst>
              <a:gd name="adj" fmla="val 10000"/>
            </a:avLst>
          </a:prstGeom>
          <a:solidFill>
            <a:srgbClr val="D9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246120"/>
            <a:ext cx="731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0F172A"/>
                </a:solidFill>
                <a:latin typeface="Inter"/>
              </a:rPr>
              <a:t>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20040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939C4"/>
                </a:solidFill>
                <a:latin typeface="Inter"/>
              </a:rPr>
              <a:t>Aqlli qidiruv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566160"/>
            <a:ext cx="4389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Trek, ism, telefon, izoh — hammasi 200ms da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3108960"/>
            <a:ext cx="5486400" cy="1005840"/>
          </a:xfrm>
          <a:prstGeom prst="roundRect">
            <a:avLst>
              <a:gd name="adj" fmla="val 10000"/>
            </a:avLst>
          </a:prstGeom>
          <a:solidFill>
            <a:srgbClr val="D9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246120"/>
            <a:ext cx="731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0F172A"/>
                </a:solidFill>
                <a:latin typeface="Inter"/>
              </a:rPr>
              <a:t>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320040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939C4"/>
                </a:solidFill>
                <a:latin typeface="Inter"/>
              </a:rPr>
              <a:t>Sana filtri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3566160"/>
            <a:ext cx="4389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Bugun / 7 kun / 30 kun / Hammasi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251960"/>
            <a:ext cx="5486400" cy="1005840"/>
          </a:xfrm>
          <a:prstGeom prst="roundRect">
            <a:avLst>
              <a:gd name="adj" fmla="val 10000"/>
            </a:avLst>
          </a:prstGeom>
          <a:solidFill>
            <a:srgbClr val="D9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4389120"/>
            <a:ext cx="731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0F172A"/>
                </a:solidFill>
                <a:latin typeface="Inter"/>
              </a:rPr>
              <a:t>⬆⬇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434340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939C4"/>
                </a:solidFill>
                <a:latin typeface="Inter"/>
              </a:rPr>
              <a:t>Sort ustunlar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709160"/>
            <a:ext cx="4389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Yangilangan, yaratilgan, muhimlik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7920" y="4251960"/>
            <a:ext cx="5486400" cy="1005840"/>
          </a:xfrm>
          <a:prstGeom prst="roundRect">
            <a:avLst>
              <a:gd name="adj" fmla="val 10000"/>
            </a:avLst>
          </a:prstGeom>
          <a:solidFill>
            <a:srgbClr val="D9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4389120"/>
            <a:ext cx="731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0F172A"/>
                </a:solidFill>
                <a:latin typeface="Inter"/>
              </a:rPr>
              <a:t>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0" y="434340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939C4"/>
                </a:solidFill>
                <a:latin typeface="Inter"/>
              </a:rPr>
              <a:t>Bulk amallar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0" y="4709160"/>
            <a:ext cx="4389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Bir nechta murojaatga bir vaqtda biriktirish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5394960"/>
            <a:ext cx="5486400" cy="1005840"/>
          </a:xfrm>
          <a:prstGeom prst="roundRect">
            <a:avLst>
              <a:gd name="adj" fmla="val 10000"/>
            </a:avLst>
          </a:prstGeom>
          <a:solidFill>
            <a:srgbClr val="D9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5532120"/>
            <a:ext cx="731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0F172A"/>
                </a:solidFill>
                <a:latin typeface="Inter"/>
              </a:rPr>
              <a:t>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63040" y="548640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939C4"/>
                </a:solidFill>
                <a:latin typeface="Inter"/>
              </a:rPr>
              <a:t>Pagination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63040" y="5852160"/>
            <a:ext cx="4389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25/50/100/250 ta sahifada — sayt sekinlashmasin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0" y="5394960"/>
            <a:ext cx="5486400" cy="1005840"/>
          </a:xfrm>
          <a:prstGeom prst="roundRect">
            <a:avLst>
              <a:gd name="adj" fmla="val 10000"/>
            </a:avLst>
          </a:prstGeom>
          <a:solidFill>
            <a:srgbClr val="D9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5532120"/>
            <a:ext cx="731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0F172A"/>
                </a:solidFill>
                <a:latin typeface="Inter"/>
              </a:rPr>
              <a:t>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32320" y="548640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939C4"/>
                </a:solidFill>
                <a:latin typeface="Inter"/>
              </a:rPr>
              <a:t>Aging belgilar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32320" y="5852160"/>
            <a:ext cx="4389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F172A"/>
                </a:solidFill>
                <a:latin typeface="Inter"/>
              </a:rPr>
              <a:t>SLA kechikkan va eskirgan ticketlar avtomatik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54" presetClass="entr" presetSubtype="0" fill="hold" grpId="0" nodeType="click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4" presetClass="entr" presetSubtype="0" fill="hold" grpId="0" nodeType="click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54" presetClass="entr" presetSubtype="0" fill="hold" grpId="0" nodeType="click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54" presetClass="entr" presetSubtype="0" fill="hold" grpId="0" nodeType="click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54" presetClass="entr" presetSubtype="0" fill="hold" grpId="0" nodeType="click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4" presetClass="entr" presetSubtype="8" fill="hold" grpId="0" nodeType="click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4" presetClass="entr" presetSubtype="8" fill="hold" grpId="0" nodeType="click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4" presetClass="entr" presetSubtype="8" fill="hold" grpId="0" nodeType="click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4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4" presetClass="entr" presetSubtype="8" fill="hold" grpId="0" nodeType="click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4" presetClass="entr" presetSubtype="8" fill="hold" grpId="0" nodeType="click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4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4" presetClass="entr" presetSubtype="8" fill="hold" grpId="0" nodeType="click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4" dur="4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058400" y="-2743200"/>
            <a:ext cx="6400800" cy="6400800"/>
          </a:xfrm>
          <a:prstGeom prst="ellipse">
            <a:avLst/>
          </a:prstGeom>
          <a:solidFill>
            <a:srgbClr val="2F66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4572000"/>
            <a:ext cx="4572000" cy="4572000"/>
          </a:xfrm>
          <a:prstGeom prst="ellipse">
            <a:avLst/>
          </a:prstGeom>
          <a:solidFill>
            <a:srgbClr val="D9E6FF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939C4"/>
                </a:solidFill>
                <a:latin typeface="Inter"/>
              </a:rPr>
              <a:t>Bilim bazasi (Knowledge Base)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Inter"/>
              </a:rPr>
              <a:t>Operatorlar ish davomida kerakli ma'lumotlarni shu yerdan topadi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5486400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F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822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0F172A"/>
                </a:solidFill>
                <a:latin typeface="Inter"/>
              </a:rPr>
              <a:t>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194560"/>
            <a:ext cx="4114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F66FF"/>
                </a:solidFill>
                <a:latin typeface="Inter"/>
              </a:rPr>
              <a:t>E'lonlar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78892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F172A"/>
                </a:solidFill>
                <a:latin typeface="Inter"/>
              </a:rPr>
              <a:t>Xitoy-Uzb, Uzb yuklari, To'lov, Umumiy.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F172A"/>
                </a:solidFill>
                <a:latin typeface="Inter"/>
              </a:rPr>
              <a:t>Admin pin qiladi, yashiradi.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920240"/>
            <a:ext cx="5486400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194560"/>
            <a:ext cx="822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0F172A"/>
                </a:solidFill>
                <a:latin typeface="Inter"/>
              </a:rPr>
              <a:t>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2194560"/>
            <a:ext cx="4114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0B981"/>
                </a:solidFill>
                <a:latin typeface="Inter"/>
              </a:rPr>
              <a:t>Filiallar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278892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F172A"/>
                </a:solidFill>
                <a:latin typeface="Inter"/>
              </a:rPr>
              <a:t>13 viloyat bo'yicha filtri,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F172A"/>
                </a:solidFill>
                <a:latin typeface="Inter"/>
              </a:rPr>
              <a:t>telefon, manzil, xarita havola.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14800"/>
            <a:ext cx="5486400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389120"/>
            <a:ext cx="822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0F172A"/>
                </a:solidFill>
                <a:latin typeface="Inter"/>
              </a:rPr>
              <a:t>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389120"/>
            <a:ext cx="4114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59E0B"/>
                </a:solidFill>
                <a:latin typeface="Inter"/>
              </a:rPr>
              <a:t>Tariflar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98348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F172A"/>
                </a:solidFill>
                <a:latin typeface="Inter"/>
              </a:rPr>
              <a:t>1 m³ = $750 = 125 kg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F172A"/>
                </a:solidFill>
                <a:latin typeface="Inter"/>
              </a:rPr>
              <a:t>1 kg = $6.00 — admin har doim o'zgartiradi.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114800"/>
            <a:ext cx="5486400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A85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4389120"/>
            <a:ext cx="822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0F172A"/>
                </a:solidFill>
                <a:latin typeface="Inter"/>
              </a:rPr>
              <a:t>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4389120"/>
            <a:ext cx="4114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A855F7"/>
                </a:solidFill>
                <a:latin typeface="Inter"/>
              </a:rPr>
              <a:t>Yuk kalkulyatori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498348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F172A"/>
                </a:solidFill>
                <a:latin typeface="Inter"/>
              </a:rPr>
              <a:t>Hajm va og'irlik bo'yicha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0F172A"/>
                </a:solidFill>
                <a:latin typeface="Inter"/>
              </a:rPr>
              <a:t>avtomatik narx hisoblash + sabab.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3" presetClass="entr" presetSubtype="0" fill="hold" grpId="0" nodeType="click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3" presetClass="entr" presetSubtype="0" fill="hold" grpId="0" nodeType="click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3" presetClass="entr" presetSubtype="0" fill="hold" grpId="0" nodeType="click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3" presetClass="entr" presetSubtype="0" fill="hold" grpId="0" nodeType="click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058400" y="-2743200"/>
            <a:ext cx="6400800" cy="6400800"/>
          </a:xfrm>
          <a:prstGeom prst="ellipse">
            <a:avLst/>
          </a:prstGeom>
          <a:solidFill>
            <a:srgbClr val="2F66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4572000"/>
            <a:ext cx="4572000" cy="4572000"/>
          </a:xfrm>
          <a:prstGeom prst="ellipse">
            <a:avLst/>
          </a:prstGeom>
          <a:solidFill>
            <a:srgbClr val="D9E6FF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939C4"/>
                </a:solidFill>
                <a:latin typeface="Inter"/>
              </a:rPr>
              <a:t>Operator tezligi uchun TOP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Inter"/>
              </a:rPr>
              <a:t>Har kungi ishni 3-5 marta tezlashtiruvchi vositalar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11064240" cy="777240"/>
          </a:xfrm>
          <a:prstGeom prst="roundRect">
            <a:avLst>
              <a:gd name="adj" fmla="val 10000"/>
            </a:avLst>
          </a:prstGeom>
          <a:solidFill>
            <a:srgbClr val="D9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1965960"/>
            <a:ext cx="502920" cy="502920"/>
          </a:xfrm>
          <a:prstGeom prst="ellipse">
            <a:avLst/>
          </a:prstGeom>
          <a:solidFill>
            <a:srgbClr val="2F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96596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0F172A"/>
                </a:solidFill>
                <a:latin typeface="Inter"/>
              </a:rPr>
              <a:t>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192024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939C4"/>
                </a:solidFill>
                <a:latin typeface="Inter"/>
              </a:rPr>
              <a:t>Javob shablonlari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011680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F172A"/>
                </a:solidFill>
                <a:latin typeface="Inter"/>
              </a:rPr>
              <a:t>Admin tayyorlaydi, operator bir bosishda mijozga aytadi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743200"/>
            <a:ext cx="11064240" cy="777240"/>
          </a:xfrm>
          <a:prstGeom prst="roundRect">
            <a:avLst>
              <a:gd name="adj" fmla="val 10000"/>
            </a:avLst>
          </a:prstGeom>
          <a:solidFill>
            <a:srgbClr val="D9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2880360"/>
            <a:ext cx="502920" cy="502920"/>
          </a:xfrm>
          <a:prstGeom prst="ellipse">
            <a:avLst/>
          </a:prstGeom>
          <a:solidFill>
            <a:srgbClr val="2F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88036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0F172A"/>
                </a:solidFill>
                <a:latin typeface="Inter"/>
              </a:rPr>
              <a:t>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283464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939C4"/>
                </a:solidFill>
                <a:latin typeface="Inter"/>
              </a:rPr>
              <a:t>Klipboard nusxa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2926080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F172A"/>
                </a:solidFill>
                <a:latin typeface="Inter"/>
              </a:rPr>
              <a:t>Telefon, trek, manzil yonida tugma — sekundda nusxa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657600"/>
            <a:ext cx="11064240" cy="777240"/>
          </a:xfrm>
          <a:prstGeom prst="roundRect">
            <a:avLst>
              <a:gd name="adj" fmla="val 10000"/>
            </a:avLst>
          </a:prstGeom>
          <a:solidFill>
            <a:srgbClr val="D9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3794760"/>
            <a:ext cx="502920" cy="502920"/>
          </a:xfrm>
          <a:prstGeom prst="ellipse">
            <a:avLst/>
          </a:prstGeom>
          <a:solidFill>
            <a:srgbClr val="2F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379476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0F172A"/>
                </a:solidFill>
                <a:latin typeface="Inter"/>
              </a:rPr>
              <a:t>⌨️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374904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939C4"/>
                </a:solidFill>
                <a:latin typeface="Inter"/>
              </a:rPr>
              <a:t>Keyboard yorliqlar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3840480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F172A"/>
                </a:solidFill>
                <a:latin typeface="Inter"/>
              </a:rPr>
              <a:t>N=yangi, M=mening, /=qidiruv, G+D/P/T/K=sahifa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572000"/>
            <a:ext cx="11064240" cy="777240"/>
          </a:xfrm>
          <a:prstGeom prst="roundRect">
            <a:avLst>
              <a:gd name="adj" fmla="val 10000"/>
            </a:avLst>
          </a:prstGeom>
          <a:solidFill>
            <a:srgbClr val="D9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1520" y="4709160"/>
            <a:ext cx="502920" cy="502920"/>
          </a:xfrm>
          <a:prstGeom prst="ellipse">
            <a:avLst/>
          </a:prstGeom>
          <a:solidFill>
            <a:srgbClr val="2F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470916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0F172A"/>
                </a:solidFill>
                <a:latin typeface="Inter"/>
              </a:rPr>
              <a:t>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466344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939C4"/>
                </a:solidFill>
                <a:latin typeface="Inter"/>
              </a:rPr>
              <a:t>Ctrl+F global qidiruv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4754880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F172A"/>
                </a:solidFill>
                <a:latin typeface="Inter"/>
              </a:rPr>
              <a:t>Ism, telefon, trek bo'yicha 0.5 sekundda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486400"/>
            <a:ext cx="11064240" cy="777240"/>
          </a:xfrm>
          <a:prstGeom prst="roundRect">
            <a:avLst>
              <a:gd name="adj" fmla="val 10000"/>
            </a:avLst>
          </a:prstGeom>
          <a:solidFill>
            <a:srgbClr val="D9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31520" y="5623560"/>
            <a:ext cx="502920" cy="502920"/>
          </a:xfrm>
          <a:prstGeom prst="ellipse">
            <a:avLst/>
          </a:prstGeom>
          <a:solidFill>
            <a:srgbClr val="2F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562356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0F172A"/>
                </a:solidFill>
                <a:latin typeface="Inter"/>
              </a:rPr>
              <a:t>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4560" y="557784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939C4"/>
                </a:solidFill>
                <a:latin typeface="Inter"/>
              </a:rPr>
              <a:t>"Mening" defolt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5669280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F172A"/>
                </a:solidFill>
                <a:latin typeface="Inter"/>
              </a:rPr>
              <a:t>Operator faqat o'z ticketlarini ko'radi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4" fill="hold" grpId="0" nodeType="click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" presetClass="entr" presetSubtype="4" fill="hold" grpId="0" nodeType="click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" presetClass="entr" presetSubtype="4" fill="hold" grpId="0" nodeType="click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" presetClass="entr" presetSubtype="4" fill="hold" grpId="0" nodeType="click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" presetClass="entr" presetSubtype="4" fill="hold" grpId="0" nodeType="click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058400" y="-2743200"/>
            <a:ext cx="6400800" cy="6400800"/>
          </a:xfrm>
          <a:prstGeom prst="ellipse">
            <a:avLst/>
          </a:prstGeom>
          <a:solidFill>
            <a:srgbClr val="2F66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4572000"/>
            <a:ext cx="4572000" cy="4572000"/>
          </a:xfrm>
          <a:prstGeom prst="ellipse">
            <a:avLst/>
          </a:prstGeom>
          <a:solidFill>
            <a:srgbClr val="D9E6FF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939C4"/>
                </a:solidFill>
                <a:latin typeface="Inter"/>
              </a:rPr>
              <a:t>Admin uchun analitika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Inter"/>
              </a:rPr>
              <a:t>Real-time grafiklar bilan biznes qarorlar qabul qilish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26517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B981"/>
                </a:solidFill>
                <a:latin typeface="Inter"/>
              </a:rPr>
              <a:t>92%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Inter"/>
              </a:rPr>
              <a:t>Yopilish foizi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828800"/>
            <a:ext cx="26517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196596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59E0B"/>
                </a:solidFill>
                <a:latin typeface="Inter"/>
              </a:rPr>
              <a:t>14:00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46888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Inter"/>
              </a:rPr>
              <a:t>Peak soat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26517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F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96596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F66FF"/>
                </a:solidFill>
                <a:latin typeface="Inter"/>
              </a:rPr>
              <a:t>4.7★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46888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Inter"/>
              </a:rPr>
              <a:t>O'rtacha baho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0" y="1828800"/>
            <a:ext cx="26517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0" y="196596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F172A"/>
                </a:solidFill>
                <a:latin typeface="Inter"/>
              </a:rPr>
              <a:t>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246888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Inter"/>
              </a:rPr>
              <a:t>Operatorlar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200400"/>
            <a:ext cx="5486400" cy="1828800"/>
          </a:xfrm>
          <a:prstGeom prst="roundRect">
            <a:avLst>
              <a:gd name="adj" fmla="val 10000"/>
            </a:avLst>
          </a:prstGeom>
          <a:solidFill>
            <a:srgbClr val="D9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33756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939C4"/>
                </a:solidFill>
                <a:latin typeface="Inter"/>
              </a:rPr>
              <a:t>30 kunlik trend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7947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Inter"/>
              </a:rPr>
              <a:t>Yaratildi vs Hal etildi (Line chart)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5840" y="4480560"/>
            <a:ext cx="548640" cy="274320"/>
          </a:xfrm>
          <a:prstGeom prst="rect">
            <a:avLst/>
          </a:prstGeom>
          <a:solidFill>
            <a:srgbClr val="2F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783080" y="4343401"/>
            <a:ext cx="548640" cy="411479"/>
          </a:xfrm>
          <a:prstGeom prst="rect">
            <a:avLst/>
          </a:prstGeom>
          <a:solidFill>
            <a:srgbClr val="2F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60320" y="4206240"/>
            <a:ext cx="548640" cy="548640"/>
          </a:xfrm>
          <a:prstGeom prst="rect">
            <a:avLst/>
          </a:prstGeom>
          <a:solidFill>
            <a:srgbClr val="2F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337560" y="4069080"/>
            <a:ext cx="548640" cy="685800"/>
          </a:xfrm>
          <a:prstGeom prst="rect">
            <a:avLst/>
          </a:prstGeom>
          <a:solidFill>
            <a:srgbClr val="2F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14800" y="3931921"/>
            <a:ext cx="548640" cy="822959"/>
          </a:xfrm>
          <a:prstGeom prst="rect">
            <a:avLst/>
          </a:prstGeom>
          <a:solidFill>
            <a:srgbClr val="2F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892040" y="3794760"/>
            <a:ext cx="548640" cy="960120"/>
          </a:xfrm>
          <a:prstGeom prst="rect">
            <a:avLst/>
          </a:prstGeom>
          <a:solidFill>
            <a:srgbClr val="2F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17920" y="3200400"/>
            <a:ext cx="2651760" cy="1828800"/>
          </a:xfrm>
          <a:prstGeom prst="roundRect">
            <a:avLst>
              <a:gd name="adj" fmla="val 10000"/>
            </a:avLst>
          </a:prstGeom>
          <a:solidFill>
            <a:srgbClr val="D9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33756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939C4"/>
                </a:solidFill>
                <a:latin typeface="Inter"/>
              </a:rPr>
              <a:t>Kanal mix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79476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Inter"/>
              </a:rPr>
              <a:t>Telegram/Telefon/Web (Pie)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52560" y="3200400"/>
            <a:ext cx="2651760" cy="1828800"/>
          </a:xfrm>
          <a:prstGeom prst="roundRect">
            <a:avLst>
              <a:gd name="adj" fmla="val 10000"/>
            </a:avLst>
          </a:prstGeom>
          <a:solidFill>
            <a:srgbClr val="D9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0" y="333756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939C4"/>
                </a:solidFill>
                <a:latin typeface="Inter"/>
              </a:rPr>
              <a:t>Peak soatlar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79476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Inter"/>
              </a:rPr>
              <a:t>24h bar chart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212080"/>
            <a:ext cx="11064240" cy="1554480"/>
          </a:xfrm>
          <a:prstGeom prst="roundRect">
            <a:avLst>
              <a:gd name="adj" fmla="val 10000"/>
            </a:avLst>
          </a:prstGeom>
          <a:solidFill>
            <a:srgbClr val="D9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34924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939C4"/>
                </a:solidFill>
                <a:latin typeface="Inter"/>
              </a:rPr>
              <a:t>Operator KPI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80644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Inter"/>
              </a:rPr>
              <a:t>Top-3 medali + yopilish 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5577840"/>
            <a:ext cx="7315200" cy="164592"/>
          </a:xfrm>
          <a:prstGeom prst="roundRect">
            <a:avLst>
              <a:gd name="adj" fmla="val 50000"/>
            </a:avLst>
          </a:prstGeom>
          <a:solidFill>
            <a:srgbClr val="2F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291840" y="5806440"/>
            <a:ext cx="6035040" cy="164592"/>
          </a:xfrm>
          <a:prstGeom prst="roundRect">
            <a:avLst>
              <a:gd name="adj" fmla="val 50000"/>
            </a:avLst>
          </a:prstGeom>
          <a:solidFill>
            <a:srgbClr val="2F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291840" y="6035040"/>
            <a:ext cx="4754880" cy="164592"/>
          </a:xfrm>
          <a:prstGeom prst="roundRect">
            <a:avLst>
              <a:gd name="adj" fmla="val 50000"/>
            </a:avLst>
          </a:prstGeom>
          <a:solidFill>
            <a:srgbClr val="2F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291840" y="6263640"/>
            <a:ext cx="3474720" cy="164592"/>
          </a:xfrm>
          <a:prstGeom prst="roundRect">
            <a:avLst>
              <a:gd name="adj" fmla="val 50000"/>
            </a:avLst>
          </a:prstGeom>
          <a:solidFill>
            <a:srgbClr val="2F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291840" y="6492240"/>
            <a:ext cx="2194560" cy="164592"/>
          </a:xfrm>
          <a:prstGeom prst="roundRect">
            <a:avLst>
              <a:gd name="adj" fmla="val 50000"/>
            </a:avLst>
          </a:prstGeom>
          <a:solidFill>
            <a:srgbClr val="2F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3" presetClass="entr" presetSubtype="0" fill="hold" grpId="0" nodeType="click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3" presetClass="entr" presetSubtype="0" fill="hold" grpId="0" nodeType="click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3" presetClass="entr" presetSubtype="0" fill="hold" grpId="0" nodeType="click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3" presetClass="entr" presetSubtype="0" fill="hold" grpId="0" nodeType="click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4" presetClass="entr" presetSubtype="8" fill="hold" grpId="0" nodeType="click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4" presetClass="entr" presetSubtype="8" fill="hold" grpId="0" nodeType="click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4" presetClass="entr" presetSubtype="8" fill="hold" grpId="0" nodeType="click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4" presetClass="entr" presetSubtype="8" fill="hold" grpId="0" nodeType="clickEffect">
                                  <p:stCondLst>
                                    <p:cond delay="215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058400" y="-2743200"/>
            <a:ext cx="6400800" cy="6400800"/>
          </a:xfrm>
          <a:prstGeom prst="ellipse">
            <a:avLst/>
          </a:prstGeom>
          <a:solidFill>
            <a:srgbClr val="2F66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4572000"/>
            <a:ext cx="4572000" cy="4572000"/>
          </a:xfrm>
          <a:prstGeom prst="ellipse">
            <a:avLst/>
          </a:prstGeom>
          <a:solidFill>
            <a:srgbClr val="D9E6FF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939C4"/>
                </a:solidFill>
                <a:latin typeface="Inter"/>
              </a:rPr>
              <a:t>Markaziy xavfsiz xotira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Inter"/>
              </a:rPr>
              <a:t>Vercel KV (Upstash Redis) — ma'lumotlar shifrlangan markaziy xotirada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2286000"/>
            <a:ext cx="3200400" cy="2286000"/>
          </a:xfrm>
          <a:prstGeom prst="roundRect">
            <a:avLst>
              <a:gd name="adj" fmla="val 10000"/>
            </a:avLst>
          </a:prstGeom>
          <a:solidFill>
            <a:srgbClr val="2F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560320"/>
            <a:ext cx="3200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0" b="0">
                <a:solidFill>
                  <a:srgbClr val="0F172A"/>
                </a:solidFill>
                <a:latin typeface="Inter"/>
              </a:rPr>
              <a:t>☁️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749039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Inter"/>
              </a:rPr>
              <a:t>Vercel KV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416052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9E6FF"/>
                </a:solidFill>
                <a:latin typeface="Inter"/>
              </a:rPr>
              <a:t>shifrlangan, dunyo bo'ylab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560320"/>
            <a:ext cx="1371600" cy="1280160"/>
          </a:xfrm>
          <a:prstGeom prst="roundRect">
            <a:avLst>
              <a:gd name="adj" fmla="val 10000"/>
            </a:avLst>
          </a:prstGeom>
          <a:solidFill>
            <a:srgbClr val="D9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697480"/>
            <a:ext cx="137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0">
                <a:solidFill>
                  <a:srgbClr val="0F172A"/>
                </a:solidFill>
                <a:latin typeface="Inter"/>
              </a:rPr>
              <a:t>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3756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39C4"/>
                </a:solidFill>
                <a:latin typeface="Inter"/>
              </a:rPr>
              <a:t>Operator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206240"/>
            <a:ext cx="1371600" cy="1280160"/>
          </a:xfrm>
          <a:prstGeom prst="roundRect">
            <a:avLst>
              <a:gd name="adj" fmla="val 10000"/>
            </a:avLst>
          </a:prstGeom>
          <a:solidFill>
            <a:srgbClr val="D9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343400"/>
            <a:ext cx="137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0">
                <a:solidFill>
                  <a:srgbClr val="0F172A"/>
                </a:solidFill>
                <a:latin typeface="Inter"/>
              </a:rPr>
              <a:t>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98348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39C4"/>
                </a:solidFill>
                <a:latin typeface="Inter"/>
              </a:rPr>
              <a:t>Operator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24160" y="2560320"/>
            <a:ext cx="1371600" cy="1280160"/>
          </a:xfrm>
          <a:prstGeom prst="roundRect">
            <a:avLst>
              <a:gd name="adj" fmla="val 10000"/>
            </a:avLst>
          </a:prstGeom>
          <a:solidFill>
            <a:srgbClr val="D9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0" y="2697480"/>
            <a:ext cx="137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0">
                <a:solidFill>
                  <a:srgbClr val="0F172A"/>
                </a:solidFill>
                <a:latin typeface="Inter"/>
              </a:rPr>
              <a:t>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333756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39C4"/>
                </a:solidFill>
                <a:latin typeface="Inter"/>
              </a:rPr>
              <a:t>Admin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24160" y="4206240"/>
            <a:ext cx="1371600" cy="1280160"/>
          </a:xfrm>
          <a:prstGeom prst="roundRect">
            <a:avLst>
              <a:gd name="adj" fmla="val 10000"/>
            </a:avLst>
          </a:prstGeom>
          <a:solidFill>
            <a:srgbClr val="D9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24160" y="4343400"/>
            <a:ext cx="1371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0">
                <a:solidFill>
                  <a:srgbClr val="0F172A"/>
                </a:solidFill>
                <a:latin typeface="Inter"/>
              </a:rPr>
              <a:t>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498348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39C4"/>
                </a:solidFill>
                <a:latin typeface="Inter"/>
              </a:rPr>
              <a:t>Operator 20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5486400"/>
            <a:ext cx="2468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F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62356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0F172A"/>
                </a:solidFill>
                <a:latin typeface="Inter"/>
              </a:rPr>
              <a:t>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571500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939C4"/>
                </a:solidFill>
                <a:latin typeface="Inter"/>
              </a:rPr>
              <a:t>Shifrlangan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11880" y="5486400"/>
            <a:ext cx="2468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F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94760" y="562356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0F172A"/>
                </a:solidFill>
                <a:latin typeface="Inter"/>
              </a:rPr>
              <a:t>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571500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939C4"/>
                </a:solidFill>
                <a:latin typeface="Inter"/>
              </a:rPr>
              <a:t>Dunyo bo'ylab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5486400"/>
            <a:ext cx="2468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F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562356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0F172A"/>
                </a:solidFill>
                <a:latin typeface="Inter"/>
              </a:rPr>
              <a:t>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571500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939C4"/>
                </a:solidFill>
                <a:latin typeface="Inter"/>
              </a:rPr>
              <a:t>Avto-backup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06840" y="5486400"/>
            <a:ext cx="2468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F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89720" y="562356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0F172A"/>
                </a:solidFill>
                <a:latin typeface="Inter"/>
              </a:rPr>
              <a:t>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800" y="571500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939C4"/>
                </a:solidFill>
                <a:latin typeface="Inter"/>
              </a:rPr>
              <a:t>Real-time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3" presetClass="entr" presetSubtype="0" fill="hold" grpId="0" nodeType="click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8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" presetClass="entr" presetSubtype="4" fill="hold" grpId="0" nodeType="click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" presetClass="entr" presetSubtype="4" fill="hold" grpId="0" nodeType="click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" presetClass="entr" presetSubtype="8" fill="hold" grpId="0" nodeType="click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" presetClass="entr" presetSubtype="8" fill="hold" grpId="0" nodeType="click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" presetClass="entr" presetSubtype="2" fill="hold" grpId="0" nodeType="click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" presetClass="entr" presetSubtype="2" fill="hold" grpId="0" nodeType="click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2" presetClass="entr" presetSubtype="2" fill="hold" grpId="0" nodeType="clickEffect">
                                  <p:stCondLst>
                                    <p:cond delay="28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4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2" presetClass="entr" presetSubtype="2" fill="hold" grpId="0" nodeType="click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058400" y="-2743200"/>
            <a:ext cx="6400800" cy="6400800"/>
          </a:xfrm>
          <a:prstGeom prst="ellipse">
            <a:avLst/>
          </a:prstGeom>
          <a:solidFill>
            <a:srgbClr val="2F66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4572000"/>
            <a:ext cx="4572000" cy="4572000"/>
          </a:xfrm>
          <a:prstGeom prst="ellipse">
            <a:avLst/>
          </a:prstGeom>
          <a:solidFill>
            <a:srgbClr val="D9E6FF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939C4"/>
                </a:solidFill>
                <a:latin typeface="Inter"/>
              </a:rPr>
              <a:t>Foydalanish qulayligi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Inter"/>
              </a:rPr>
              <a:t>Operator ish jarayonida hech narsa to'sqinlik qilmasligi uchun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365760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D9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3657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400" b="0">
                <a:solidFill>
                  <a:srgbClr val="0F172A"/>
                </a:solidFill>
                <a:latin typeface="Inter"/>
              </a:rPr>
              <a:t>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939C4"/>
                </a:solidFill>
                <a:latin typeface="Inter"/>
              </a:rPr>
              <a:t>Qora rejim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66160"/>
            <a:ext cx="3291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Uzoq vaqt ishlash uchun ko'zga qulay tema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011680"/>
            <a:ext cx="365760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D9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2286000"/>
            <a:ext cx="3657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400" b="0">
                <a:solidFill>
                  <a:srgbClr val="0F172A"/>
                </a:solidFill>
                <a:latin typeface="Inter"/>
              </a:rPr>
              <a:t>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10896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939C4"/>
                </a:solidFill>
                <a:latin typeface="Inter"/>
              </a:rPr>
              <a:t>Mobil moslangan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566160"/>
            <a:ext cx="3291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Telefon va planshetda to'liq ishlaydi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011680"/>
            <a:ext cx="365760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D9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286000"/>
            <a:ext cx="3657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400" b="0">
                <a:solidFill>
                  <a:srgbClr val="0F172A"/>
                </a:solidFill>
                <a:latin typeface="Inter"/>
              </a:rPr>
              <a:t>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10896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939C4"/>
                </a:solidFill>
                <a:latin typeface="Inter"/>
              </a:rPr>
              <a:t>2 til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566160"/>
            <a:ext cx="3291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O'zbek va rus — bir tugma bilan almashtirish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97680"/>
            <a:ext cx="365760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D9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572000"/>
            <a:ext cx="3657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400" b="0">
                <a:solidFill>
                  <a:srgbClr val="0F172A"/>
                </a:solidFill>
                <a:latin typeface="Inter"/>
              </a:rPr>
              <a:t>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39496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939C4"/>
                </a:solidFill>
                <a:latin typeface="Inter"/>
              </a:rPr>
              <a:t>Yig'iladigan menyu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852160"/>
            <a:ext cx="3291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Kerakli paytda kengaytiriladi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9120" y="4297680"/>
            <a:ext cx="365760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D9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0" y="4572000"/>
            <a:ext cx="3657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400" b="0">
                <a:solidFill>
                  <a:srgbClr val="0F172A"/>
                </a:solidFill>
                <a:latin typeface="Inter"/>
              </a:rPr>
              <a:t>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539496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939C4"/>
                </a:solidFill>
                <a:latin typeface="Inter"/>
              </a:rPr>
              <a:t>Hover effektlar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5852160"/>
            <a:ext cx="3291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Sariq accent — qaysi tugma ostida ekanligi aniq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0" y="4297680"/>
            <a:ext cx="365760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D9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0" y="4572000"/>
            <a:ext cx="3657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400" b="0">
                <a:solidFill>
                  <a:srgbClr val="0F172A"/>
                </a:solidFill>
                <a:latin typeface="Inter"/>
              </a:rPr>
              <a:t>⌨️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539496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939C4"/>
                </a:solidFill>
                <a:latin typeface="Inter"/>
              </a:rPr>
              <a:t>Klaviatura yorliqlari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5852160"/>
            <a:ext cx="3291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Tezkor operatorlar uchun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54" presetClass="entr" presetSubtype="0" fill="hold" grpId="0" nodeType="click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4" presetClass="entr" presetSubtype="0" fill="hold" grpId="0" nodeType="click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54" presetClass="entr" presetSubtype="0" fill="hold" grpId="0" nodeType="click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54" presetClass="entr" presetSubtype="0" fill="hold" grpId="0" nodeType="click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54" presetClass="entr" presetSubtype="0" fill="hold" grpId="0" nodeType="click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54" presetClass="entr" presetSubtype="0" fill="hold" grpId="0" nodeType="click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058400" y="-2743200"/>
            <a:ext cx="6400800" cy="6400800"/>
          </a:xfrm>
          <a:prstGeom prst="ellipse">
            <a:avLst/>
          </a:prstGeom>
          <a:solidFill>
            <a:srgbClr val="2F66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4572000"/>
            <a:ext cx="4572000" cy="4572000"/>
          </a:xfrm>
          <a:prstGeom prst="ellipse">
            <a:avLst/>
          </a:prstGeom>
          <a:solidFill>
            <a:srgbClr val="D9E6FF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939C4"/>
                </a:solidFill>
                <a:latin typeface="Inter"/>
              </a:rPr>
              <a:t>Texnologik stek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Inter"/>
              </a:rPr>
              <a:t>Zamonaviy, ishonchli va kelajak uchun tayyor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2103120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F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2103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0F172A"/>
                </a:solidFill>
                <a:latin typeface="Inter"/>
              </a:rPr>
              <a:t>⚛️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F66FF"/>
                </a:solidFill>
                <a:latin typeface="Inter"/>
              </a:rPr>
              <a:t>React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5760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Inter"/>
              </a:rPr>
              <a:t>UI framework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2103120"/>
            <a:ext cx="2103120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8920" y="2377440"/>
            <a:ext cx="2103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0F172A"/>
                </a:solidFill>
                <a:latin typeface="Inter"/>
              </a:rPr>
              <a:t>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0040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59E0B"/>
                </a:solidFill>
                <a:latin typeface="Inter"/>
              </a:rPr>
              <a:t>Vite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365760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Inter"/>
              </a:rPr>
              <a:t>Build tool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2103120"/>
            <a:ext cx="2103120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F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0" y="2377440"/>
            <a:ext cx="2103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0F172A"/>
                </a:solidFill>
                <a:latin typeface="Inter"/>
              </a:rPr>
              <a:t>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20040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F66FF"/>
                </a:solidFill>
                <a:latin typeface="Inter"/>
              </a:rPr>
              <a:t>Tailwind CSS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65760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Inter"/>
              </a:rPr>
              <a:t>Styling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9480" y="2103120"/>
            <a:ext cx="2103120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69480" y="2377440"/>
            <a:ext cx="2103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0F172A"/>
                </a:solidFill>
                <a:latin typeface="Inter"/>
              </a:rPr>
              <a:t>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80" y="320040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59E0B"/>
                </a:solidFill>
                <a:latin typeface="Inter"/>
              </a:rPr>
              <a:t>Firebase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365760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Inter"/>
              </a:rPr>
              <a:t>Backend (opt)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09760" y="2103120"/>
            <a:ext cx="2103120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F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0" y="2377440"/>
            <a:ext cx="2103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0F172A"/>
                </a:solidFill>
                <a:latin typeface="Inter"/>
              </a:rPr>
              <a:t>☁️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3200400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F66FF"/>
                </a:solidFill>
                <a:latin typeface="Inter"/>
              </a:rPr>
              <a:t>Vercel KV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9760" y="365760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Inter"/>
              </a:rPr>
              <a:t>Storage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297679"/>
            <a:ext cx="2103120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4571999"/>
            <a:ext cx="2103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0F172A"/>
                </a:solidFill>
                <a:latin typeface="Inter"/>
              </a:rPr>
              <a:t>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394959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B981"/>
                </a:solidFill>
                <a:latin typeface="Inter"/>
              </a:rPr>
              <a:t>face-api.js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852159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Inter"/>
              </a:rPr>
              <a:t>Face ID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88920" y="4297679"/>
            <a:ext cx="2103120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F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88920" y="4571999"/>
            <a:ext cx="2103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0F172A"/>
                </a:solidFill>
                <a:latin typeface="Inter"/>
              </a:rPr>
              <a:t>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88920" y="5394959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F66FF"/>
                </a:solidFill>
                <a:latin typeface="Inter"/>
              </a:rPr>
              <a:t>Recharts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88920" y="5852159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Inter"/>
              </a:rPr>
              <a:t>Analitika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0" y="4297679"/>
            <a:ext cx="2103120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A85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0" y="4571999"/>
            <a:ext cx="2103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0F172A"/>
                </a:solidFill>
                <a:latin typeface="Inter"/>
              </a:rPr>
              <a:t>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5394959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A855F7"/>
                </a:solidFill>
                <a:latin typeface="Inter"/>
              </a:rPr>
              <a:t>Framer Motion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5852159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Inter"/>
              </a:rPr>
              <a:t>Animatsiya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69480" y="4297679"/>
            <a:ext cx="2103120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93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69480" y="4571999"/>
            <a:ext cx="2103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0F172A"/>
                </a:solidFill>
                <a:latin typeface="Inter"/>
              </a:rPr>
              <a:t>💻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69480" y="5394959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939C4"/>
                </a:solidFill>
                <a:latin typeface="Inter"/>
              </a:rPr>
              <a:t>TypeScript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9480" y="5852159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Inter"/>
              </a:rPr>
              <a:t>Type-safe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509760" y="4297679"/>
            <a:ext cx="2103120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09760" y="4571999"/>
            <a:ext cx="2103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0F172A"/>
                </a:solidFill>
                <a:latin typeface="Inter"/>
              </a:rPr>
              <a:t>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09760" y="5394959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172A"/>
                </a:solidFill>
                <a:latin typeface="Inter"/>
              </a:rPr>
              <a:t>Vercel deploy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09760" y="5852159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Inter"/>
              </a:rPr>
              <a:t>Hosting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3" presetClass="entr" presetSubtype="0" fill="hold" grpId="0" nodeType="click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3" presetClass="entr" presetSubtype="0" fill="hold" grpId="0" nodeType="click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3" presetClass="entr" presetSubtype="0" fill="hold" grpId="0" nodeType="clickEffect">
                                  <p:stCondLst>
                                    <p:cond delay="9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3" presetClass="entr" presetSubtype="0" fill="hold" grpId="0" nodeType="click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3" presetClass="entr" presetSubtype="0" fill="hold" grpId="0" nodeType="click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3" presetClass="entr" presetSubtype="0" fill="hold" grpId="0" nodeType="click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3" presetClass="entr" presetSubtype="0" fill="hold" grpId="0" nodeType="clickEffect">
                                  <p:stCondLst>
                                    <p:cond delay="142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23" presetClass="entr" presetSubtype="0" fill="hold" grpId="0" nodeType="click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4" dur="4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23" presetClass="entr" presetSubtype="0" fill="hold" grpId="0" nodeType="clickEffect">
                                  <p:stCondLst>
                                    <p:cond delay="166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23" presetClass="entr" presetSubtype="0" fill="hold" grpId="0" nodeType="clickEffect">
                                  <p:stCondLst>
                                    <p:cond delay="178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4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058400" y="-2743200"/>
            <a:ext cx="6400800" cy="6400800"/>
          </a:xfrm>
          <a:prstGeom prst="ellipse">
            <a:avLst/>
          </a:prstGeom>
          <a:solidFill>
            <a:srgbClr val="2F66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4572000"/>
            <a:ext cx="4572000" cy="4572000"/>
          </a:xfrm>
          <a:prstGeom prst="ellipse">
            <a:avLst/>
          </a:prstGeom>
          <a:solidFill>
            <a:srgbClr val="D9E6FF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828800"/>
            <a:ext cx="1219169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0" b="1">
                <a:solidFill>
                  <a:srgbClr val="1939C4"/>
                </a:solidFill>
                <a:latin typeface="Inter"/>
              </a:rPr>
              <a:t>Boshlashga tayyor!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4748B"/>
                </a:solidFill>
                <a:latin typeface="Inter"/>
              </a:rPr>
              <a:t>iPOST CRM — sizning call-centeringizning yangi bosh ofisi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1480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Inter"/>
              </a:rPr>
              <a:t>✓ 20+ operator uchun ishlab chiqilgan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52628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Inter"/>
              </a:rPr>
              <a:t>✓ 10,000+ murojaatda ham tezkor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93776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Inter"/>
              </a:rPr>
              <a:t>✓ Face ID + Parol + Multi-lang + Dark mode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34924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Inter"/>
              </a:rPr>
              <a:t>✓ Vercel xavfsiz markaziy xotira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576072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F172A"/>
                </a:solidFill>
                <a:latin typeface="Inter"/>
              </a:rPr>
              <a:t>✓ Real-time, mobil, PWA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6126480"/>
            <a:ext cx="2743200" cy="548640"/>
          </a:xfrm>
          <a:prstGeom prst="roundRect">
            <a:avLst>
              <a:gd name="adj" fmla="val 50000"/>
            </a:avLst>
          </a:prstGeom>
          <a:solidFill>
            <a:srgbClr val="2F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Hozir ishlatishni boshlash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4" presetClass="entr" presetSubtype="0" fill="hold" grpId="0" nodeType="click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8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" presetClass="entr" presetSubtype="8" fill="hold" grpId="0" nodeType="click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" presetClass="entr" presetSubtype="8" fill="hold" grpId="0" nodeType="click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" presetClass="entr" presetSubtype="8" fill="hold" grpId="0" nodeType="click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" presetClass="entr" presetSubtype="8" fill="hold" grpId="0" nodeType="click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" presetClass="entr" presetSubtype="8" fill="hold" grpId="0" nodeType="click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6" presetClass="entr" presetSubtype="0" fill="hold" grpId="0" nodeType="click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