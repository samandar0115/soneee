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" y="0"/>
            <a:ext cx="11960352" cy="182880"/>
          </a:xfrm>
          <a:prstGeom prst="roundRect">
            <a:avLst>
              <a:gd name="adj" fmla="val 8000"/>
            </a:avLst>
          </a:prstGeom>
          <a:solidFill>
            <a:srgbClr val="C2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7C00"/>
                </a:solidFill>
                <a:latin typeface="Inter"/>
              </a:rPr>
              <a:t>TECHNICAL DEEP DIVE · ADMIN ·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0CBDB"/>
                </a:solidFill>
                <a:latin typeface="Inter"/>
              </a:rPr>
              <a:t>Arxitektura, sinxronlash strategiyasi va xavfsizlik prezentatsiyasi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8288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NASHR · v3.0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0A1B9"/>
                </a:solidFill>
                <a:latin typeface="Inter"/>
              </a:rPr>
              <a:t>Call center · Cargo logistics · Operator avtomatlashtirish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585216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Yangi murojaatlar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58521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Sklad navbati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626364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2A8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Face ID login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626364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Vercel KV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7C00"/>
                </a:solidFill>
                <a:latin typeface="Inter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Arxitektura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0CBDB"/>
                </a:solidFill>
                <a:latin typeface="Inter"/>
              </a:rPr>
              <a:t>React 18 + Vite + Vercel Serverless + Upstash Redis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Har bir qatlamning vazifasi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2A8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80F6"/>
                </a:solidFill>
                <a:latin typeface="Inter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React 18 +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TypeScript, Tailwind, Framer Motion, lucide-react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Inter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Context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AppContext + useReducer pattern, Map indexes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7C00"/>
                </a:solidFill>
                <a:latin typeface="Inter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/api/state.ts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Vercel Serverless Functions, Node 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Inter"/>
              </a:rPr>
              <a:t>KV 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Upstash Redis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Per-collection keys + meta key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Inter"/>
              </a:rPr>
              <a:t>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Face-API.js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TinyFaceDetector + Landmark68 + Recognition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1188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Inter"/>
              </a:rPr>
              <a:t>REALTIME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BroadcastChannel + Polling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Cross-tab + 5s meta poll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Inter"/>
              </a:rPr>
              <a:t>BACKUP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localStorage rotation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7 kun JSON snapshot, daily auto-save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3544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C2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404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25100"/>
                </a:solidFill>
                <a:latin typeface="Inter"/>
              </a:rPr>
              <a:t>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Vercel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Edge functions, CDN, auto-preview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Ma'lumot oqimi (save flow)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100% saqlash kafolati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User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Operator "Saqlash" tugmasini bosadi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setState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React state darhol yangilanadi (optimistic)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flush KV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await flushCollectionSave('tickets', next)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broadcast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Boshqa tab'larga BroadcastChannel orqali xabar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Toast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Foydalanuvchi 'Saqlandi ✓' ko'radi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7C00"/>
                </a:solidFill>
                <a:latin typeface="Inter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KV optimizatsiyasi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0CBDB"/>
                </a:solidFill>
                <a:latin typeface="Inter"/>
              </a:rPr>
              <a:t>7.5 GB → ~1 GB, savings 80%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Avval va hozir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KV joy egallashni 80% kamaytirdik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55778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5577840" cy="36576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Avval (eski rejim)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Butun snapshot har save'da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1576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5-10 MB blob har yozuvda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99816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Legacy key + per-collection — dublikat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83864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Photo har xodimda KV'da (~50-200 KB)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6791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Polling — to'liq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900 KB limit har kolleksiya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557784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828800"/>
            <a:ext cx="5577840" cy="36576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874519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Inter"/>
              </a:rPr>
              <a:t>Hozir (yangi rejim)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317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Per-collection delta (~10 KB)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71576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Yangilangan kolleksiya — 1 ta yozuv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99816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Legacy yozish to'xtatildi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83864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Photo lokal localStorage'da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67912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Polling — meta (200 bayt)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Inter"/>
              </a:rPr>
              <a:t>•  4.5 MB limit har kolleksiya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13 ta kolleksiya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Har biri alohida key + meta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2A8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80F6"/>
                </a:solidFill>
                <a:latin typeface="Inter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Login + 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Photo strip qilingan, ~5 KB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7C00"/>
                </a:solidFill>
                <a:latin typeface="Inter"/>
              </a:rPr>
              <a:t>TICKETS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Murojaatlar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Eng katta — 50-500 KB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C2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25100"/>
                </a:solidFill>
                <a:latin typeface="Inter"/>
              </a:rPr>
              <a:t>LEADS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Yangi qabul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Telefon raqamlar va manbalar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Inter"/>
              </a:rPr>
              <a:t>CARGOSHIPMENTS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Vozvratlar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Excel import — ko'p, lekin yengil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Inter"/>
              </a:rPr>
              <a:t>CALLLOGS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Qo'ng'iroqlar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5000 ta cap, ~50 KB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1188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Inter"/>
              </a:rPr>
              <a:t>CATEGORIES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Kategoriyalar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Statik, kichik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Inter"/>
              </a:rPr>
              <a:t>STAGES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Bosqichlar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Statik, kichik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3544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404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04040"/>
                </a:solidFill>
                <a:latin typeface="Inter"/>
              </a:rPr>
              <a:t>SETTINGS + TARIFF + BRANCHES + 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Konfiguratsiya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Juda kichik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7C00"/>
                </a:solidFill>
                <a:latin typeface="Inter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Sinxronlash strategiyasi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0CBDB"/>
                </a:solidFill>
                <a:latin typeface="Inter"/>
              </a:rPr>
              <a:t>Optimistic UI + immediate flush + background polling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Cross-device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5 sekund delay maksimum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Save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Tab A: ticketni o'zgartirdi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KV write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Per-collection key + meta yangilandi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15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66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Broadcast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Tab B (shu PC) — BroadcastChannel orqali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Meta poll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Tab C (boshqa PC) — 5s ichida meta'ni tekshiradi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017520"/>
            <a:ext cx="182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57C00"/>
                </a:solidFill>
                <a:latin typeface="Inter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2194560"/>
            <a:ext cx="731520" cy="73152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2240280"/>
            <a:ext cx="731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310896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324612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Inter"/>
              </a:rPr>
              <a:t>Fetch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749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Inter"/>
              </a:rPr>
              <a:t>Faqat o'zgargan kolleksiyani oladi (~10 KB)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57C00"/>
                </a:solidFill>
                <a:latin typeface="Inter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Xavfsizlik va saqlanish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0CBDB"/>
                </a:solidFill>
                <a:latin typeface="Inter"/>
              </a:rPr>
              <a:t>3 qatlam himoya — ma'lumot yo'qolmaydi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Ma'lumot saqlanish kafolati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100% — ish jarayonida hech narsa yo'qolmaydi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688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1️⃣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0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localStorage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214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Har bir state o'zgarishi darhol — offline ham ishlaydi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3748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2️⃣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77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Vercel KV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9008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Har bir saqlash darhol await — server-side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0616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3️⃣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46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Auto-backup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58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Har kun localStorage'ga JSON, 7 kun rotation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7484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4️⃣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1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sendBeacon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274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Sahifa yopilsa ham — barcha o'zgarish yetkaziladi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352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5️⃣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83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Visibility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9612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Boshqa tab'ga o'tganda ham pending'lar yuboriladi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Performance metrikalari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O'lchangan natijalar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2A8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A80F6"/>
                </a:solidFill>
                <a:latin typeface="Inter"/>
              </a:rPr>
              <a:t>YUKLASH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1.4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Initial load (gzipped 336 KB)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328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A34A"/>
                </a:solidFill>
                <a:latin typeface="Inter"/>
              </a:rPr>
              <a:t>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~700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Save → KV → broadcast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7C00"/>
                </a:solidFill>
                <a:latin typeface="Inter"/>
              </a:rPr>
              <a:t>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&lt;5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10000 ticket ichida (Map index)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8288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182880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4040" y="20116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Inter"/>
              </a:rPr>
              <a:t>POLL BW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237744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~200 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06324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Meta call (har 5s)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C2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25100"/>
                </a:solidFill>
                <a:latin typeface="Inter"/>
              </a:rPr>
              <a:t>BUNDLE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1.37 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JS asosiy chunk (gzip 337 KB)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8328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1188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EA580C"/>
                </a:solidFill>
                <a:latin typeface="Inter"/>
              </a:rPr>
              <a:t>CHUNKS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7 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react/charts/icons/xlsx/motion bo'lingan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0936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Inter"/>
              </a:rPr>
              <a:t>IDLE LOGOUT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30 daq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Sozlamadan o'zgartiriladi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5440" y="425196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235440" y="4251960"/>
            <a:ext cx="91440" cy="219456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64040" y="4434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Inter"/>
              </a:rPr>
              <a:t>BACKUP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64040" y="480060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2937"/>
                </a:solidFill>
                <a:latin typeface="Inter"/>
              </a:rPr>
              <a:t>7 kun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48640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Inter"/>
              </a:rPr>
              <a:t>Har kun bir marta, eski avto-o'chadi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88952" cy="32004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iPOST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657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Inter"/>
              </a:rPr>
              <a:t>Virtual Control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430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Inter"/>
              </a:rPr>
              <a:t>Yo'l xaritasi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Inter"/>
              </a:rPr>
              <a:t>Keyingi versiyalarda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1371600" cy="54864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688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0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AI klassifikatsiya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1214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Murojaat turi va prioritetini avto-tanish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73748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77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React 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9008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Mobile native app — push notification bilan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60616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46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WhatsApp Business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5876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Mijoz bilan ikki tomonlama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43484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7484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1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Power BI / Looker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2744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Chuqurroq BI 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30352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352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83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Voice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9612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Qo'ng'iroq yozuvlarini AI bilan tahlil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17220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212200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Inter"/>
              </a:rPr>
              <a:t>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6152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Inter"/>
              </a:rPr>
              <a:t>CRM ↔ ERP integratsiya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6464808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Inter"/>
              </a:rPr>
              <a:t>1C, MoySklad va boshqalar bilan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Inter"/>
              </a:rPr>
              <a:t>iPOST CRM — Virtual Control 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Inter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8000"/>
            </a:avLst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Inter"/>
              </a:rPr>
              <a:t>Savollar?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0CBDB"/>
                </a:solidFill>
                <a:latin typeface="Inter"/>
              </a:rPr>
              <a:t>Texnik savollar uchun: admin yoki developer bilan bog'laning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029200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Inter"/>
              </a:rPr>
              <a:t>iPOST CRM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