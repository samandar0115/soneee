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0"/>
            <a:ext cx="11960352" cy="182880"/>
          </a:xfrm>
          <a:prstGeom prst="roundRect">
            <a:avLst>
              <a:gd name="adj" fmla="val 8000"/>
            </a:avLst>
          </a:prstGeom>
          <a:solidFill>
            <a:srgbClr val="C2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7C00"/>
                </a:solidFill>
                <a:latin typeface="Inter"/>
              </a:rPr>
              <a:t>STEP-BY-STEP TRAINING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Inter"/>
              </a:rPr>
              <a:t>Operator darsligi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0CBDB"/>
                </a:solidFill>
                <a:latin typeface="Inter"/>
              </a:rPr>
              <a:t>iPOST CRM tizimida ishlash bo'yicha to'liq qo'llanma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NASHR · v3.0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0A1B9"/>
                </a:solidFill>
                <a:latin typeface="Inter"/>
              </a:rPr>
              <a:t>Call center · Cargo logistics · Operator avtomatlashtirish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585216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Yangi murojaatlar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585216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Sklad navbati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626364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A8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Face ID login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6263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Vercel KV sync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Inter"/>
              </a:rPr>
              <a:t>MODUL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Tizimga kirish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0CBDB"/>
                </a:solidFill>
                <a:latin typeface="Inter"/>
              </a:rPr>
              <a:t>Face ID yoki parol orqali — 2 ta variantni o'rganamiz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Tizimga kirish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Ikkala usul ham xavfsiz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Login ekran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Brauzerda iPOST CRM ochiladi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017520"/>
            <a:ext cx="94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91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5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2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Usul tanlash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Face ID yoki Parol — istagansiz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8320" y="3017520"/>
            <a:ext cx="94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39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39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3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0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Tasdiqlash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0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Kamera oldida turish yoki username/parol kiritish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6320" y="3017520"/>
            <a:ext cx="94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87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Asosiy sahifa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Dashboard ochiladi, ishga tayyor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Face ID maslahatlari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Eng ishonchli kirish usuli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6880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808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Yorug'lik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Yuzingiz aniq ko'rinishi uchun yorug' joyda turing — chiroq orqada bo'lmasin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3748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77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Pozitsiya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9900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Yuzingiz markazda, kamera baravarida — pastdan yoki yondan emas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0616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546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Faqat siz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Kadrda boshqa odamlar yoki rasmlar bo'lmasligi kerak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7484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1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Ishlashmasligi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72744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Agar 3 marta tanimasa — "Parol bilan kirish" tugmasini bosing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Inter"/>
              </a:rPr>
              <a:t>MODUL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Yangi murojaatlar bilan ishlash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0CBDB"/>
                </a:solidFill>
                <a:latin typeface="Inter"/>
              </a:rPr>
              <a:t>Instagram, Telegram, telefon va javobsiz qo'ng'iroqlarni qabul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Yangi murojaat oqimi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Hech bir raqam yo'qolmaydi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298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298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1783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Yangi murojaatlar sahifasi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40"/>
            <a:ext cx="1508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Sidebar'dan /leads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017520"/>
            <a:ext cx="1097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75788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5788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0008" y="3108960"/>
            <a:ext cx="1783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Yangi qabul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3749040"/>
            <a:ext cx="1508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"Yangi qabul qilish" tugmasi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3088" y="3017520"/>
            <a:ext cx="1097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68596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68596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42816" y="3108960"/>
            <a:ext cx="1783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9976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Manba va raqamlar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6" y="3749040"/>
            <a:ext cx="1508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Instagram/Telegram/Telefon/Javobsiz — birini tanlash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25896" y="3017520"/>
            <a:ext cx="1097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1404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1404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108960"/>
            <a:ext cx="1783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2784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Bulk paste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3749040"/>
            <a:ext cx="1508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Telefon raqamlarni har biri yangi qatorda yoki vergul bilan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4" y="3017520"/>
            <a:ext cx="1097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54212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54212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2" y="3108960"/>
            <a:ext cx="1783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65592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Qo'ng'iroq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65592" y="3749040"/>
            <a:ext cx="1508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Telefon belgisini bosib softphone'ga uzatish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1512" y="3017520"/>
            <a:ext cx="1097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702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702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21240" y="3108960"/>
            <a:ext cx="1783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0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Qaror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3749040"/>
            <a:ext cx="1508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"Murojaat ochish" yoki "Info berildi"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Maslahatlar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Tezroq va aniqroq ishlash uchun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6880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808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Manba muhim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Instagram'dan kelganda Instagramni belgilang — keyin statistikada ko'rasiz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3748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77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Dublikat xavotirsiz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9900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Bir raqam ikki marta qo'shilsa ham xavfli emas — alohida yozuv bo'ladi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0616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546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Izoh foydali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Masalan "narx so'rashgan", "manzil so'ragan" — keyin tanlash osonroq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7484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1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Vaqt ekonomi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72744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20 ta raqamni bulk paste — 30 soniya, alohida — 5 daqiqa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Inter"/>
              </a:rPr>
              <a:t>MODUL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Murojaat (Ticket) bilan ishlash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0CBDB"/>
                </a:solidFill>
                <a:latin typeface="Inter"/>
              </a:rPr>
              <a:t>Yangi yaratish, tahrirlash, bosqichdan bosqichga surish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Murojaat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Yangidan hal etishgacha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Yangi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Telefon, ism, kanal, kategoriyani kiritish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Aktiv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Operator murojaatni qabul qiladi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Jarayonda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Bosqichdan bosqichga (call → tekshirish → kelishish)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Hal etish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Natija yoziladi, mijoz baholaydi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87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Yopildi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Tarix saqlanadi, qidirilishi mumkin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Ticket'da nimalar bor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Har bir ma'lumot saqlanadi va qidiriladi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6880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808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Trek raqami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Avtomatik yoki o'zingiz kiritasiz, dublikat tekshiriladi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3748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77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Mijoz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9900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Ism, telefon, kanal — keyingi qo'ng'iroq aniq ko'rinadi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0616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546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Yuk adashishi (misroute)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"Adashishlar" kategoriyasida xato/to'g'ri mijoz ma'lumotlari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7484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1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Sklad treklar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72744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3 sabab (to'lov/vozvrat/ushlangan) bilan jo'natish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30352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34352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83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Izohlar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961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Ichki (faqat operatorlar uchun) va ochiq (mijoz uchun)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17220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21220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615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Ilovalar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646480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Rasm, hujjat — 2 MB gacha har biri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Inter"/>
              </a:rPr>
              <a:t>MODUL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Sklad navbati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0CBDB"/>
                </a:solidFill>
                <a:latin typeface="Inter"/>
              </a:rPr>
              <a:t>3 sabab: To'lov / Vozvrat / Ushlab qolingan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Skladga jo'natish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Trek + sabab + izoh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Murojaat ochish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Ticket modal ichida pastga tushing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Sabab tanlash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To'lov / Vozvrat / Ushlab qolingan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Trek raqami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Kiritish (majburiy)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Izoh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Ushlab qolish bo'lsa — sabab majburiy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87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Qo'shish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Darhol Sklad navbatida ko'rinadi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3 sabab — qachon ishlatish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Qaysi sabab kerakligini bilib oling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91440" cy="2194560"/>
          </a:xfrm>
          <a:prstGeom prst="roundRect">
            <a:avLst>
              <a:gd name="adj" fmla="val 8000"/>
            </a:avLst>
          </a:prstGeom>
          <a:solidFill>
            <a:srgbClr val="2A8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A80F6"/>
                </a:solidFill>
                <a:latin typeface="Inter"/>
              </a:rPr>
              <a:t>💳 TO'LOV QILINDI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Inter"/>
              </a:rPr>
              <a:t>paid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6324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Inter"/>
              </a:rPr>
              <a:t>Mijoz to'lov qildi — endi omborga chiqarish kerak. Avto paid=true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82880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1828800"/>
            <a:ext cx="91440" cy="219456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0116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A580C"/>
                </a:solidFill>
                <a:latin typeface="Inter"/>
              </a:rPr>
              <a:t>↩️ VOZVRAT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3774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Inter"/>
              </a:rPr>
              <a:t>returned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06324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Inter"/>
              </a:rPr>
              <a:t>Mijoz xohlamayapti yoki noto'g'ri kelgan — qaytariladi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82880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1828800"/>
            <a:ext cx="91440" cy="2194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0116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Inter"/>
              </a:rPr>
              <a:t>⏸️ USHLAB QOLINGAN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3774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Inter"/>
              </a:rPr>
              <a:t>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06324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Inter"/>
              </a:rPr>
              <a:t>Shubhali, hujjat yo'q, summa noaniq va h.k. Izoh majburiy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82880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440" y="1828800"/>
            <a:ext cx="91440" cy="2194560"/>
          </a:xfrm>
          <a:prstGeom prst="roundRect">
            <a:avLst>
              <a:gd name="adj" fmla="val 8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20116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Inter"/>
              </a:rPr>
              <a:t>📦 BOSHQA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23774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Inter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06324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Inter"/>
              </a:rPr>
              <a:t>Yuqoridagi 3 tasiga to'g'ri kelmasa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Inter"/>
              </a:rPr>
              <a:t>MODUL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Qo'ng'iroq qilish (Softphone)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0CBDB"/>
                </a:solidFill>
                <a:latin typeface="Inter"/>
              </a:rPr>
              <a:t>MicroSIP yoki Linphone bilan tezda aloqaga chiqish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Qo'ng'iroq oqimi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Telefon raqami — bir click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Raqamni bosish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Murojaat yoki sklad navbatida telefon belgisi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Softphone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MicroSIP/Linphone avto-ochiladi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Bog'lanish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Operator gaplashadi, vaqt yoziladi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Natija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Notepad yoki murojaat ochiladi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17520"/>
            <a:ext cx="182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57C00"/>
                </a:solidFill>
                <a:latin typeface="Inter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87000" y="219456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0" y="224028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310896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Inter"/>
              </a:rPr>
              <a:t>CallLog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749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Inter"/>
              </a:rPr>
              <a:t>Avtomatik /calls sahifasida ko'rinadi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Inter"/>
              </a:rPr>
              <a:t>MODUL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Qidiruv va tezkor amallar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0CBDB"/>
                </a:solidFill>
                <a:latin typeface="Inter"/>
              </a:rPr>
              <a:t>Vaqtni tejaydigan klaviatura yorliqlari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Qidiruv yo'llari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3 xil — eng tezi qaysi?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6880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808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Global qidiruv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Ctrl+K (yoki sidebar Search) — barcha murojaat, mijoz, trek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3748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77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Track sahifasi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9900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/track — faqat trek raqami bilan publik qidiruv (mijoz uchun)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0616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☎️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546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Telefon orqali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Murojaat formada telefon kiritsangiz — tarix avto ko'rinadi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7484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1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Sklad qidiruv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72744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/warehouse sahifasida trek, mijoz yoki izoh bo'yicha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Klaviatura yorliqlari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Maksimum tezlik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6880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⌨️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808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Ctrl +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Global qidiruv ochish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3748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⌨️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77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Ctrl +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9900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Yangi murojaat (Tickets sahifasida)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0616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⌨️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546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Esc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Modal yoki menyuni yopish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7484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⌨️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1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Inter"/>
              </a:rPr>
              <a:t>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72744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Qidiruv inputiga fokus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Inter"/>
              </a:rPr>
              <a:t>MODUL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Tez-tez uchraydigan vaziyatlar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0CBDB"/>
                </a:solidFill>
                <a:latin typeface="Inter"/>
              </a:rPr>
              <a:t>Nima bo'lsa nima qilish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32004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Inter"/>
              </a:rPr>
              <a:t>Virtual Control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Inter"/>
              </a:rPr>
              <a:t>Muammo → yechim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Eng ko'p uchraydigan vaziyatlar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371600" cy="54864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557784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577840" cy="36576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Muammo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Saqlash bosildi, lekin xato chiqdi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1576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Boshqa PC'dan kirsam foto yo'q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99816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Mijoz qo'ng'iroq qilyapti — kim?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83864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Trek raqami noto'g'ri (dublikat)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679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Yuk adashganda — qaysi forma?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Sahifa muzlab qolsa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828800"/>
            <a:ext cx="557784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828800"/>
            <a:ext cx="5577840" cy="3657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Yechim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33172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Internetni tekshiring va qayta urinib ko'ring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71576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Faqat foto yo'q, qolgan ma'lumot bor (login ham)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99816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Tarixni telefon yoki track bo'yicha qidiring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83864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"Yuk adashishi" kategoriyasini tanlang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679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Misroute bo'limini to'ldiring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25196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Inter"/>
              </a:rPr>
              <a:t>•  F5 (refresh) — ma'lumot saqlangan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iPOST CRM — Virtual Control 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28600" cy="6858000"/>
          </a:xfrm>
          <a:prstGeom prst="roundRect">
            <a:avLst>
              <a:gd name="adj" fmla="val 8000"/>
            </a:avLst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Endi siz tayyorsiz!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0CBDB"/>
                </a:solidFill>
                <a:latin typeface="Inter"/>
              </a:rPr>
              <a:t>Har qanday savol bo'lsa — admin yoki rahbarga murojaat qiling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0292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iPOST CRM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