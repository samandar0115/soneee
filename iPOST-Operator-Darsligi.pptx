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03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03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4572000"/>
            <a:ext cx="2743200" cy="2743200"/>
          </a:xfrm>
          <a:prstGeom prst="roundRect">
            <a:avLst/>
          </a:prstGeom>
          <a:solidFill>
            <a:srgbClr val="154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13716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18288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7200">
                <a:solidFill>
                  <a:srgbClr val="0540D6"/>
                </a:solidFill>
                <a:latin typeface="Inter"/>
              </a:rPr>
              <a:t>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Inter"/>
              </a:rPr>
              <a:t>OPERATOR DARSLIGI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 i="0">
                <a:solidFill>
                  <a:srgbClr val="CCDDFF"/>
                </a:solidFill>
                <a:latin typeface="Inter"/>
              </a:rPr>
              <a:t>iPOST Cargo Call Center CRM tizimida ishlash bo'yicha to'liq qo'llanma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6687" y="548640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6687" y="5486400"/>
            <a:ext cx="1737360" cy="4572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400">
                <a:solidFill>
                  <a:srgbClr val="0540D6"/>
                </a:solidFill>
                <a:latin typeface="Inter"/>
              </a:rPr>
              <a:t>📞 Qo'ng'iroqlar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6927" y="548640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6927" y="5486400"/>
            <a:ext cx="1737360" cy="4572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400">
                <a:solidFill>
                  <a:srgbClr val="0540D6"/>
                </a:solidFill>
                <a:latin typeface="Inter"/>
              </a:rPr>
              <a:t>📋 Murojaatlar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7167" y="548640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7167" y="5486400"/>
            <a:ext cx="1737360" cy="4572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400">
                <a:solidFill>
                  <a:srgbClr val="0540D6"/>
                </a:solidFill>
                <a:latin typeface="Inter"/>
              </a:rPr>
              <a:t>🎯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47407" y="548640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7407" y="5486400"/>
            <a:ext cx="1737360" cy="4572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400">
                <a:solidFill>
                  <a:srgbClr val="0540D6"/>
                </a:solidFill>
                <a:latin typeface="Inter"/>
              </a:rPr>
              <a:t>👤 Face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7647" y="548640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647" y="5486400"/>
            <a:ext cx="1737360" cy="4572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400">
                <a:solidFill>
                  <a:srgbClr val="0540D6"/>
                </a:solidFill>
                <a:latin typeface="Inter"/>
              </a:rPr>
              <a:t>📊 Analitika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Inter"/>
              </a:rPr>
              <a:t>2026 · Yangi versiya · v2.0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Mavzular ro'yxati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Quyidagi bo'limlarni o'rganamiz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245059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5059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32304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Tizimga kirish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0662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Login, parol va Face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7744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3368" y="245059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45059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432304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Bosh sahifa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70662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Dashboard, statistika va shoshilinch murojaatlar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327355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27355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255264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Murojaat yaratish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958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Yangi mijoz murojaatini ro'yxatga olish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0040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3368" y="327355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27355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3255264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Pipeline jarayoni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352958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Kanban orqali murojaatni bosqichma-bosqich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2336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6928" y="409651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09651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078224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Telefon qo'ng'iroq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35254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Sayt ichidan to'g'ridan-to'g'ri qo'ng'iroq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02336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73368" y="409651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409651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4078224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Qo'ng'iroqlar tarixi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435254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Davomiyligi, natija, statistika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4632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6928" y="491947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91947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901183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Bilimlar bazasi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17550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Tariflar, filiallar, e'lonlar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84632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73368" y="491947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491947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79" y="4901183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Qidiruv va kontaktlar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79" y="5175504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Tezkor qidiruv, mijoz tarixi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2 /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1. Tizimga kirish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Face ID yoki login/parol orqali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54864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540D6"/>
                </a:solidFill>
                <a:latin typeface="Inter"/>
              </a:rPr>
              <a:t>🎭 Face ID (Birinchi tanlov)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Tezkor va xavfsiz — kamera oldida turing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91839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8269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46120"/>
            <a:ext cx="45720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Sahifa ochilganda kamera avto yoqiladi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0332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9417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45720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Yuzni o'rtaga olib boring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11480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45720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Tizim 50%+ o'xshashlikni topganda — tasdiqlash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262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1713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Tasdiqlasangiz, darhol kirasiz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937759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2861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92040"/>
            <a:ext cx="45720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2 marta urinishdan keyin parol so'raydi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377440"/>
            <a:ext cx="54864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514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A2A8A"/>
                </a:solidFill>
                <a:latin typeface="Inter"/>
              </a:rPr>
              <a:t>🔑 Login / Parol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Klassik kirish — kalit qattiq qo'lda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291840"/>
            <a:ext cx="493776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383280"/>
            <a:ext cx="46634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Login:  operator1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977639"/>
            <a:ext cx="493776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069080"/>
            <a:ext cx="46634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Parol:   ••••••••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709160"/>
            <a:ext cx="4937760" cy="502920"/>
          </a:xfrm>
          <a:prstGeom prst="roundRect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709160"/>
            <a:ext cx="49377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Kirish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4406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Inter"/>
              </a:rPr>
              <a:t>💡 Login ma'lumotlarini administratordan oling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3 / 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2. Bosh sahifa (Dashboard)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Bir qarashda barcha asosiy statistika va vaziyat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447" y="2377440"/>
            <a:ext cx="26060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327" y="2514600"/>
            <a:ext cx="502920" cy="50292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327" y="25146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2407" y="2514600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Bugungi murojaatlar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2407" y="2834640"/>
            <a:ext cx="1691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0540D6"/>
                </a:solidFill>
                <a:latin typeface="Inter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8367" y="2377440"/>
            <a:ext cx="26060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1247" y="2514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1247" y="25146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1327" y="2514600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Hal etilgan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1327" y="2834640"/>
            <a:ext cx="1691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Inter"/>
              </a:rPr>
              <a:t>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377440"/>
            <a:ext cx="26060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0167" y="25146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25146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247" y="2514600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Jarayonda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2834640"/>
            <a:ext cx="1691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Inter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6207" y="2377440"/>
            <a:ext cx="26060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9087" y="2514600"/>
            <a:ext cx="502920" cy="50292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9087" y="25146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9167" y="2514600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Shoshilinch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9167" y="2834640"/>
            <a:ext cx="1691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E11D48"/>
                </a:solidFill>
                <a:latin typeface="Inter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5669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📋 So'nggi murojaatlar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540D6"/>
                </a:solidFill>
                <a:latin typeface="Inter"/>
              </a:rPr>
              <a:t>TRK-0034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5262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Alimov 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5262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Trek qidiruv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540D6"/>
                </a:solidFill>
                <a:latin typeface="Inter"/>
              </a:rPr>
              <a:t>TRK-0035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0292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Karimova 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0292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Adashish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540D6"/>
                </a:solidFill>
                <a:latin typeface="Inter"/>
              </a:rPr>
              <a:t>TRK-0036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5321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334055"/>
                </a:solidFill>
                <a:latin typeface="Inter"/>
              </a:rPr>
              <a:t>Yusupov 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5321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Tarif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931920"/>
            <a:ext cx="54864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0690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🔔 Sizdagi vazifalar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52628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nter"/>
              </a:rPr>
              <a:t>• 2 ta shoshilinch murojaat
• 1 ta callback eslatma
• 5 ta yangi mijoz so'rovi
• 1 ta yopilmagan tariff so'rovi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4 / 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3. Yangi murojaat yaratish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Mijoz qo'ng'iroq qilganda yoki yozganda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334055"/>
                </a:solidFill>
                <a:latin typeface="Inter"/>
              </a:rPr>
              <a:t>Mijoz tel qildi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2103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Tel raqami orqali avval mavjudligini tekshiring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26080" y="2834640"/>
            <a:ext cx="45720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74320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334055"/>
                </a:solidFill>
                <a:latin typeface="Inter"/>
              </a:rPr>
              <a:t>"Yangi" tugmasi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108960"/>
            <a:ext cx="2103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Murojaatlar sahifasidan yangi yaratish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52160" y="2834640"/>
            <a:ext cx="45720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274320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334055"/>
                </a:solidFill>
                <a:latin typeface="Inter"/>
              </a:rPr>
              <a:t>Ma'lumot to'ldirish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108960"/>
            <a:ext cx="2103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F.I.O, telefon, kategoriya, izoh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8240" y="2834640"/>
            <a:ext cx="45720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0" y="274320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743200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334055"/>
                </a:solidFill>
                <a:latin typeface="Inter"/>
              </a:rPr>
              <a:t>Saqlash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108960"/>
            <a:ext cx="2103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Avtomatik trek raqami beriladi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334055"/>
                </a:solidFill>
                <a:latin typeface="Inter"/>
              </a:rPr>
              <a:t>Kategoriyalar: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147" y="5029200"/>
            <a:ext cx="1280160" cy="4114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14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📦 Trek qidiruv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12467" y="5029200"/>
            <a:ext cx="1280160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1246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⚠️ Yuk adashishi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29787" y="5029200"/>
            <a:ext cx="12801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978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💵 Tariff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47107" y="5029200"/>
            <a:ext cx="1280160" cy="411480"/>
          </a:xfrm>
          <a:prstGeom prst="roundRect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710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🚪 Filial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4427" y="5029200"/>
            <a:ext cx="128016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442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✋ Shikoyat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1747" y="5029200"/>
            <a:ext cx="128016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174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💡 Taklif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9067" y="5029200"/>
            <a:ext cx="1280160" cy="411480"/>
          </a:xfrm>
          <a:prstGeom prst="roundRect">
            <a:avLst/>
          </a:prstGeom>
          <a:solidFill>
            <a:srgbClr val="717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9906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📑 Hujjat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16387" y="5029200"/>
            <a:ext cx="1280160" cy="411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16387" y="5029200"/>
            <a:ext cx="1280160" cy="41148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📋 Boshqa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F59E0B"/>
                </a:solidFill>
                <a:latin typeface="Inter"/>
              </a:rPr>
              <a:t>💡 Maslahat: Trek qidirayotgan mijoz avval boshqa operatorda bo'lsa, eslatma chiqadi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5 / 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4. Pipeline jarayoni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Murojaatni bosqichma-bosqich olib o'tish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727" y="2377440"/>
            <a:ext cx="269748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727" y="237744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Yangi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727" y="2880360"/>
            <a:ext cx="26974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167" y="3017520"/>
            <a:ext cx="251460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607" y="3063239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Alimov M. — Trek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167" y="3611879"/>
            <a:ext cx="251460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607" y="3657599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Yusupov S. — Tarif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2647" y="2377440"/>
            <a:ext cx="2697480" cy="457200"/>
          </a:xfrm>
          <a:prstGeom prst="roundRect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2647" y="237744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Jarayonda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2647" y="2880360"/>
            <a:ext cx="26974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44087" y="3017520"/>
            <a:ext cx="251460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5527" y="3063239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Karimova D. — Adashish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1567" y="2377440"/>
            <a:ext cx="26974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1567" y="237744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Tekshirilmoqda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1567" y="2880360"/>
            <a:ext cx="26974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3007" y="3017520"/>
            <a:ext cx="251460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447" y="3063239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Rasulov B. — Filial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0487" y="2377440"/>
            <a:ext cx="2697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0487" y="237744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Hal etildi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0487" y="2880360"/>
            <a:ext cx="26974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1927" y="3017520"/>
            <a:ext cx="251460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3367" y="3063239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Saidov 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1927" y="3611879"/>
            <a:ext cx="251460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3367" y="3657599"/>
            <a:ext cx="24231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Mirzayeva 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126480"/>
            <a:ext cx="11247120" cy="36576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 i="0">
                <a:solidFill>
                  <a:srgbClr val="0A2A8A"/>
                </a:solidFill>
                <a:latin typeface="Inter"/>
              </a:rPr>
              <a:t>🖱️ Sudrab tashlash (drag &amp; drop) — kartochkalarni bosqichdan bosqichga ko'chiring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6 /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5. Telefon qo'ng'iroq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Sayt ichidan to'g'ridan-to'g'ri MicroSIP'ga uzatadi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4754880" cy="4114800"/>
          </a:xfrm>
          <a:prstGeom prst="roundRect">
            <a:avLst/>
          </a:prstGeom>
          <a:solidFill>
            <a:srgbClr val="0540D6"/>
          </a:solidFill>
          <a:ln w="15240">
            <a:solidFill>
              <a:srgbClr val="0A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📞 Telefon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4389120" cy="54864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4389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urier New"/>
              </a:rPr>
              <a:t>940843725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370332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370332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70332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70332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0624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20624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420624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420624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20624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0916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470916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470916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470916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21208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*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521208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4519" y="521208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5212080"/>
            <a:ext cx="914400" cy="457200"/>
          </a:xfrm>
          <a:prstGeom prst="roundRect">
            <a:avLst/>
          </a:prstGeom>
          <a:solidFill>
            <a:srgbClr val="1E5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521208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669280"/>
            <a:ext cx="41148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669280"/>
            <a:ext cx="41148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📞  Qo'ng'iroq qilish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23774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0A2A8A"/>
                </a:solidFill>
                <a:latin typeface="Inter"/>
              </a:rPr>
              <a:t>Bosilganda nima bo'ladi?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28346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834640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88036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Raqam yoziladi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154680"/>
            <a:ext cx="5943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Numpad'da kerakli raqamni kiriting</a:t>
            </a:r>
          </a:p>
        </p:txBody>
      </p:sp>
      <p:sp>
        <p:nvSpPr>
          <p:cNvPr id="44" name="Oval 43"/>
          <p:cNvSpPr/>
          <p:nvPr/>
        </p:nvSpPr>
        <p:spPr>
          <a:xfrm>
            <a:off x="5486400" y="3401568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3401568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447288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"Qo'ng'iroq qilish" bosiladi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721608"/>
            <a:ext cx="5943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Bosish — MicroSIP avtomatik ochiladi</a:t>
            </a:r>
          </a:p>
        </p:txBody>
      </p:sp>
      <p:sp>
        <p:nvSpPr>
          <p:cNvPr id="48" name="Oval 47"/>
          <p:cNvSpPr/>
          <p:nvPr/>
        </p:nvSpPr>
        <p:spPr>
          <a:xfrm>
            <a:off x="5486400" y="3968496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3968496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014215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MicroSIP qo'ng'iroq qiladi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4288536"/>
            <a:ext cx="5943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PC'dagi softphone javob beradi</a:t>
            </a:r>
          </a:p>
        </p:txBody>
      </p:sp>
      <p:sp>
        <p:nvSpPr>
          <p:cNvPr id="52" name="Oval 51"/>
          <p:cNvSpPr/>
          <p:nvPr/>
        </p:nvSpPr>
        <p:spPr>
          <a:xfrm>
            <a:off x="5486400" y="4535424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4535424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581144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Sayt log yaratadi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855464"/>
            <a:ext cx="5943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Avtomatik aktiv qo'ng'iroq paneli ochiladi</a:t>
            </a:r>
          </a:p>
        </p:txBody>
      </p:sp>
      <p:sp>
        <p:nvSpPr>
          <p:cNvPr id="56" name="Oval 55"/>
          <p:cNvSpPr/>
          <p:nvPr/>
        </p:nvSpPr>
        <p:spPr>
          <a:xfrm>
            <a:off x="5486400" y="5102352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5102352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5148072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Natijani belgilash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422392"/>
            <a:ext cx="5943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"Bog'landi / Javob yo'q / Band"</a:t>
            </a:r>
          </a:p>
        </p:txBody>
      </p:sp>
      <p:sp>
        <p:nvSpPr>
          <p:cNvPr id="60" name="Oval 59"/>
          <p:cNvSpPr/>
          <p:nvPr/>
        </p:nvSpPr>
        <p:spPr>
          <a:xfrm>
            <a:off x="5486400" y="566928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5669280"/>
            <a:ext cx="548640" cy="54864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571500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Tarix saqlanadi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5989320"/>
            <a:ext cx="5943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/calls sahifasiga keladi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7 / 16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Aktiv qo'ng'iroq paneli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Bog'landi / Javob yo'q — tanlash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5120640" cy="4114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Bog'lanmoqda...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urier New"/>
              </a:rPr>
              <a:t>940843725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Alimov M. (TRK-0034)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4754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ourier New"/>
              </a:rPr>
              <a:t>00:12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FFF6CC"/>
                </a:solidFill>
                <a:latin typeface="Inter"/>
              </a:rPr>
              <a:t>Qabul qiluvchi javob berdimi?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46320"/>
            <a:ext cx="22860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✓ Bog'landi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846320"/>
            <a:ext cx="22860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84632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Inter"/>
              </a:rPr>
              <a:t>✗ Javob yo'q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2286000" cy="411480"/>
          </a:xfrm>
          <a:prstGeom prst="roundRect">
            <a:avLst/>
          </a:prstGeom>
          <a:solidFill>
            <a:srgbClr val="FFF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22860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Inter"/>
              </a:rPr>
              <a:t>⏸ Band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5486400"/>
            <a:ext cx="2286000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5486400"/>
            <a:ext cx="22860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✕ Bekor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8076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Inter"/>
              </a:rPr>
              <a:t>Holatga qarab birini tanlang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377440"/>
            <a:ext cx="5120640" cy="4114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514600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Qo'ng'iroqda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8036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ourier New"/>
              </a:rPr>
              <a:t>940843725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3756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Alimov M. (TRK-0034)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57600"/>
            <a:ext cx="4754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ourier New"/>
              </a:rPr>
              <a:t>02:34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43484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CCFFE5"/>
                </a:solidFill>
                <a:latin typeface="Inter"/>
              </a:rPr>
              <a:t>Gaplashish davomiyligi (jami: 02:46)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937760"/>
            <a:ext cx="4754880" cy="6858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937760"/>
            <a:ext cx="4754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📵  Qo'ng'iroqni tugatish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852160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Inter"/>
              </a:rPr>
              <a:t>Bosilgach: tarixga saqlanadi (operator, raqam, davomiyligi, natija)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8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6. Qo'ng'iroqlar tarixi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/calls sahifasida barcha yozuvlar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2606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331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Jami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334055"/>
                </a:solidFill>
                <a:latin typeface="Inter"/>
              </a:rPr>
              <a:t>127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377440"/>
            <a:ext cx="2606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68880"/>
            <a:ext cx="2331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Bog'landi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432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Inter"/>
              </a:rPr>
              <a:t>98 (77%)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377440"/>
            <a:ext cx="2606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468880"/>
            <a:ext cx="2331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Javob yo'q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432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64748B"/>
                </a:solidFill>
                <a:latin typeface="Inter"/>
              </a:rPr>
              <a:t>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377440"/>
            <a:ext cx="2606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468880"/>
            <a:ext cx="2331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O'rtacha gaplashish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7432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Inter"/>
              </a:rPr>
              <a:t>02:14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112471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Sana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6576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Operator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6576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Raqam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6576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Mijoz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6576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Natija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6576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Davomiyligi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77639"/>
            <a:ext cx="11064240" cy="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Bugun 14:32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1480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Ahmad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11480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940843725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11480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Alimov 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160520"/>
            <a:ext cx="13716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160520"/>
            <a:ext cx="1371600" cy="2743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Bog'landi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11480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02:34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61772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Bugun 14:18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61772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Salim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461772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905522144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61772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Karimova 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663440"/>
            <a:ext cx="1371600" cy="2743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4663440"/>
            <a:ext cx="1371600" cy="2743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Javob yo'q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61772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00:18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12064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Bugun 13:50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12064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Ahmad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512064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933311220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12064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Yusupov 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5166359"/>
            <a:ext cx="13716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5166359"/>
            <a:ext cx="1371600" cy="2743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Bog'landi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12064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01:45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62356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Bugun 12:05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62356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Madina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62356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977113355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62356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Rasulov 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0" y="5669280"/>
            <a:ext cx="13716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0" y="5669280"/>
            <a:ext cx="1371600" cy="2743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Band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5623560"/>
            <a:ext cx="164592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Inter"/>
              </a:rPr>
              <a:t>00:08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Inter"/>
              </a:rPr>
              <a:t>💾 CSV eksport — Excelga olib chiqish bir bosishda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9 / 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Maxsus: Yuk adashishi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Adashib borgan yuk uchun alohida shakl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5486400" cy="40233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E11D48"/>
                </a:solidFill>
                <a:latin typeface="Inter"/>
              </a:rPr>
              <a:t>❌ Adashib borgan mijoz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F.I.O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Karimova Dilfuza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Telefon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+998 90 552 21 44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Manzil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Toshkent, Yunusobod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Yetkazib berish turi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Kuryer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77440"/>
            <a:ext cx="5486400" cy="40233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Inter"/>
              </a:rPr>
              <a:t>✅ To'g'ri mijoz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7180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F.I.O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Karimov Dilshod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7472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Telefon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+998 91 552 21 44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77639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Manzil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Toshkent, Mirzo-Ulug'bek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8056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Trek turi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0916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EMU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Pochta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1208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EM123456789CN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486400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Buyurtma egasi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71500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Rasulov 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F59E0B"/>
                </a:solidFill>
                <a:latin typeface="Inter"/>
              </a:rPr>
              <a:t>💡 Trek turi BTS/EMU bo'lsa — pochta ID majburiy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10 /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7. Bilimlar bazasi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Tariflar, filiallar, e'lonlar — bir joyda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147" y="2468880"/>
            <a:ext cx="26974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5247" y="2743200"/>
            <a:ext cx="1097280" cy="109728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147" y="2743200"/>
            <a:ext cx="26974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/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147" y="4023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334055"/>
                </a:solidFill>
                <a:latin typeface="Inter"/>
              </a:rPr>
              <a:t>Tariflar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027" y="448056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Inter"/>
              </a:rPr>
              <a:t>1 kg = $6
1 m³ = $750
125 kg = 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9787" y="2468880"/>
            <a:ext cx="26974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29887" y="2743200"/>
            <a:ext cx="1097280" cy="10972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9787" y="2743200"/>
            <a:ext cx="26974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/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9787" y="4023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334055"/>
                </a:solidFill>
                <a:latin typeface="Inter"/>
              </a:rPr>
              <a:t>Filiallar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2667" y="448056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Inter"/>
              </a:rPr>
              <a:t>Toshkent: 4 ta
Viloyatlar: 11 ta
Jami: 15 filial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427" y="2468880"/>
            <a:ext cx="26974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64527" y="274320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4427" y="2743200"/>
            <a:ext cx="26974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/>
              <a:t>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4427" y="4023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334055"/>
                </a:solidFill>
                <a:latin typeface="Inter"/>
              </a:rPr>
              <a:t>E'lonlar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448056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Inter"/>
              </a:rPr>
              <a:t>Yangi reys
To'lov haqida
Ishlash tartibi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9067" y="2468880"/>
            <a:ext cx="26974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99167" y="274320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067" y="2743200"/>
            <a:ext cx="26974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/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067" y="4023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334055"/>
                </a:solidFill>
                <a:latin typeface="Inter"/>
              </a:rPr>
              <a:t>Yo'nalishlar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1947" y="448056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Inter"/>
              </a:rPr>
              <a:t>Xitoy → O'zbekiston
Korea → O'zbekiston
Rossiya → O'zbekiston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11 /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8. Tezkor qidiruv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Hamma joyda — bir bosishda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560320"/>
            <a:ext cx="941832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Inter"/>
              </a:rPr>
              <a:t>🔍   Mijoz ismi, telefon, trek raqami bo'yicha qidiring...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697480"/>
            <a:ext cx="822960" cy="45720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697480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334055"/>
                </a:solidFill>
                <a:latin typeface="Inter"/>
              </a:rPr>
              <a:t>⌘ 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520440"/>
            <a:ext cx="941832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611880"/>
            <a:ext cx="1371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📋 Murojaat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13048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334055"/>
                </a:solidFill>
                <a:latin typeface="Inter"/>
              </a:rPr>
              <a:t>TRK-0034 · Alimov 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94760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0540D6"/>
                </a:solidFill>
                <a:latin typeface="Inter"/>
              </a:rPr>
              <a:t>+998 90 084 37 25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297680"/>
            <a:ext cx="941832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389120"/>
            <a:ext cx="1371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📋 Murojaat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90288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334055"/>
                </a:solidFill>
                <a:latin typeface="Inter"/>
              </a:rPr>
              <a:t>TRK-0035 · Karimova 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72000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0540D6"/>
                </a:solidFill>
                <a:latin typeface="Inter"/>
              </a:rPr>
              <a:t>+998 90 552 21 44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074920"/>
            <a:ext cx="941832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59"/>
            <a:ext cx="13716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👤 Mijoz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67528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334055"/>
                </a:solidFill>
                <a:latin typeface="Inter"/>
              </a:rPr>
              <a:t>Yusupov 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49240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0540D6"/>
                </a:solidFill>
                <a:latin typeface="Inter"/>
              </a:rPr>
              <a:t>+998 93 311 22 00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893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Inter"/>
              </a:rPr>
              <a:t>⌨️  PC: Ctrl+F  ·  Mac: ⌘K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9893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Inter"/>
              </a:rPr>
              <a:t>📱  Mobile: yuqoridagi 🔍 ikona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9893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Inter"/>
              </a:rPr>
              <a:t>⚡  Avtomatik natijalar 200ms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12 /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Cross-operator eslatma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Boshqa operator murojaatga kirsa — sizga xabar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3200400" cy="2560320"/>
          </a:xfrm>
          <a:prstGeom prst="roundRect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Operator A</a:t>
            </a:r>
          </a:p>
        </p:txBody>
      </p:sp>
      <p:sp>
        <p:nvSpPr>
          <p:cNvPr id="11" name="Oval 10"/>
          <p:cNvSpPr/>
          <p:nvPr/>
        </p:nvSpPr>
        <p:spPr>
          <a:xfrm>
            <a:off x="1783080" y="36576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6576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/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Murojaatni boshlagan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  <a:latin typeface="Inter"/>
              </a:rPr>
              <a:t>TRK-0034 ustida ishlamoqda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3360" y="3840480"/>
            <a:ext cx="640080" cy="5486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2926080"/>
            <a:ext cx="2743200" cy="2560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1089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Mijoz qaytdi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0" y="36576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36576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/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754880"/>
            <a:ext cx="27432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Bir xil trek bo'yicha
yana qo'ng'iroq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80960" y="3840480"/>
            <a:ext cx="640080" cy="5486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926080"/>
            <a:ext cx="3200400" cy="2560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1089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Operator B (siz)</a:t>
            </a:r>
          </a:p>
        </p:txBody>
      </p:sp>
      <p:sp>
        <p:nvSpPr>
          <p:cNvPr id="24" name="Oval 23"/>
          <p:cNvSpPr/>
          <p:nvPr/>
        </p:nvSpPr>
        <p:spPr>
          <a:xfrm>
            <a:off x="9646920" y="36576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36576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/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75488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Eslatma keldi!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07492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1">
                <a:solidFill>
                  <a:srgbClr val="CCFFE5"/>
                </a:solidFill>
                <a:latin typeface="Inter"/>
              </a:rPr>
              <a:t>Avval Operator A ishlagan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1">
                <a:solidFill>
                  <a:srgbClr val="334055"/>
                </a:solidFill>
                <a:latin typeface="Inter"/>
              </a:rPr>
              <a:t>💡 Eski operator ma'lumotidan foydalanish — vaqt tejash + bir xil savol takrorlanmaslik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13 /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Tezkor va sifatli xizmat ko'rsatish uchun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6888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Tezkor javob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Birinchi javob 2 daqiqada — SLA limit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251460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6888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Aniq qo'ng'iroq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4320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Avval mijoz ma'lumotini tekshirib, keyin tel qiling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4612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33756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To'liq yozish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61188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Trek raqami va mavzu majburiy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4612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338328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383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3756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Kategoriya tanlash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61188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Aniq kategoriya — keyinchalik tahlilga yordam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11480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425196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519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20624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Status yangilash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48056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Pipeline'da bosqichni doim yangilang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11480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55080" y="425196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2519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20624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Ichki izoh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48056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Mijozga ko'rinmaydigan eslatmalar uchun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8348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4360" y="512064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1206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07492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Shoshilinch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34924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Murakkab muammo — administratorga eslating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983480"/>
            <a:ext cx="5486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5080" y="5120640"/>
            <a:ext cx="457200" cy="45720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1206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/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07492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334055"/>
                </a:solidFill>
                <a:latin typeface="Inter"/>
              </a:rPr>
              <a:t>Yakunlash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34924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Hal etilgach — "Hal etildi" + qisqa resolution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14 /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80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540D6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Call Center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0A2A8A"/>
                </a:solidFill>
                <a:latin typeface="Inter"/>
              </a:rPr>
              <a:t>Klaviatura yorliqlari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Tezkor ishlash uchun shortcut'lar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⌘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60320"/>
            <a:ext cx="182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Inter"/>
              </a:rPr>
              <a:t>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56032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56032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Ctrl+F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0604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Tezkor qidiruv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Esc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560320"/>
            <a:ext cx="182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Inter"/>
              </a:rPr>
              <a:t>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56032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56032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Esc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0604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Modal yopish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33756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3756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337560"/>
            <a:ext cx="182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Inter"/>
              </a:rPr>
              <a:t>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333756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333756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Enter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38328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Tasdiqlash / Saqlash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24612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333756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33756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⌘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337560"/>
            <a:ext cx="182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Inter"/>
              </a:rPr>
              <a:t>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33756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33756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Ctrl+S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38328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Saqlash (form)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02336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" y="411480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1480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⌘ 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4114800"/>
            <a:ext cx="182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Inter"/>
              </a:rPr>
              <a:t>/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11680" y="411480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411480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Alt+←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16052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Orqaga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023360"/>
            <a:ext cx="54864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0800" y="411480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11480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Tab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4114800"/>
            <a:ext cx="182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Inter"/>
              </a:rPr>
              <a:t>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4114800"/>
            <a:ext cx="109728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334055"/>
                </a:solidFill>
                <a:latin typeface="Courier New"/>
              </a:rPr>
              <a:t>Tab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16052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0">
                <a:solidFill>
                  <a:srgbClr val="334055"/>
                </a:solidFill>
                <a:latin typeface="Inter"/>
              </a:rPr>
              <a:t>Maydonlar orasida o'tish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Inter"/>
              </a:rPr>
              <a:t>💡 PC da Ctrl, Mac'da ⌘ (Command) — avtomatik aniqlanadi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15 /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iPOST CRM · Operator darsligi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6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3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" presetClass="entr" presetSubtype="2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23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47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8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6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23" presetClass="entr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2" presetClass="entr" presetSubtype="2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3" presetClass="entr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" presetClass="entr" presetSubtype="4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4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03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103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Inter"/>
              </a:rPr>
              <a:t>RAHMAT!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 i="0">
                <a:solidFill>
                  <a:srgbClr val="CCDDFF"/>
                </a:solidFill>
                <a:latin typeface="Inter"/>
              </a:rPr>
              <a:t>Endi siz iPOST CRM bilan to'liq ishlashga tayyorsiz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Inter"/>
              </a:rPr>
              <a:t>Savollar bo'lsa — administrator yoki guruh boshlig'iga murojaat qiling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Muvaffaqiyat tilaymiz! 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3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47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