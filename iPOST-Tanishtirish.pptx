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Bog'landi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Ahmad</c:v>
                </c:pt>
                <c:pt idx="1">
                  <c:v>Salim</c:v>
                </c:pt>
                <c:pt idx="2">
                  <c:v>Madina</c:v>
                </c:pt>
                <c:pt idx="3">
                  <c:v>Olim</c:v>
                </c:pt>
                <c:pt idx="4">
                  <c:v>Rasul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38</c:v>
                </c:pt>
                <c:pt idx="2">
                  <c:v>51</c:v>
                </c:pt>
                <c:pt idx="3">
                  <c:v>29</c:v>
                </c:pt>
                <c:pt idx="4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Javob yo'q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Ahmad</c:v>
                </c:pt>
                <c:pt idx="1">
                  <c:v>Salim</c:v>
                </c:pt>
                <c:pt idx="2">
                  <c:v>Madina</c:v>
                </c:pt>
                <c:pt idx="3">
                  <c:v>Olim</c:v>
                </c:pt>
                <c:pt idx="4">
                  <c:v>Rasul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12</c:v>
                </c:pt>
                <c:pt idx="2">
                  <c:v>7</c:v>
                </c:pt>
                <c:pt idx="3">
                  <c:v>11</c:v>
                </c:pt>
                <c:pt idx="4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Natijalar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Bog'landi</c:v>
                </c:pt>
                <c:pt idx="1">
                  <c:v>Javob yo'q</c:v>
                </c:pt>
                <c:pt idx="2">
                  <c:v>Band</c:v>
                </c:pt>
                <c:pt idx="3">
                  <c:v>Bekor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193</c:v>
                </c:pt>
                <c:pt idx="1">
                  <c:v>47</c:v>
                </c:pt>
                <c:pt idx="2">
                  <c:v>18</c:v>
                </c:pt>
                <c:pt idx="3">
                  <c:v>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0"/>
            <a:ext cx="4572000" cy="4572000"/>
          </a:xfrm>
          <a:prstGeom prst="ellipse">
            <a:avLst/>
          </a:prstGeom>
          <a:solidFill>
            <a:srgbClr val="103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3657600" cy="3657600"/>
          </a:xfrm>
          <a:prstGeom prst="ellipse">
            <a:avLst/>
          </a:prstGeom>
          <a:solidFill>
            <a:srgbClr val="103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0" y="5029200"/>
            <a:ext cx="2743200" cy="2743200"/>
          </a:xfrm>
          <a:prstGeom prst="roundRect">
            <a:avLst/>
          </a:prstGeom>
          <a:solidFill>
            <a:srgbClr val="154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-457200" y="-457200"/>
            <a:ext cx="1828800" cy="1828800"/>
          </a:xfrm>
          <a:prstGeom prst="roundRect">
            <a:avLst/>
          </a:prstGeom>
          <a:solidFill>
            <a:srgbClr val="154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486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0" y="1097280"/>
            <a:ext cx="1280160" cy="12801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5200">
                <a:solidFill>
                  <a:srgbClr val="0540D6"/>
                </a:solidFill>
                <a:latin typeface="Inter"/>
              </a:rPr>
              <a:t>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5176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0" i="0">
                <a:solidFill>
                  <a:srgbClr val="CCDDFF"/>
                </a:solidFill>
                <a:latin typeface="Inter"/>
              </a:rPr>
              <a:t>Cargo Call Center · Virtual Control Room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Inter"/>
              </a:rPr>
              <a:t>Mijoz, operator, jarayon — yagona tizimda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5212080"/>
            <a:ext cx="4846320" cy="914400"/>
          </a:xfrm>
          <a:prstGeom prst="roundRect">
            <a:avLst/>
          </a:prstGeom>
          <a:solidFill>
            <a:srgbClr val="154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5212080"/>
            <a:ext cx="48463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nter"/>
              </a:rPr>
              <a:t>REAL-TIME · MULTI-DEVICE · 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 i="0">
                <a:solidFill>
                  <a:srgbClr val="CCDDFF"/>
                </a:solidFill>
                <a:latin typeface="Inter"/>
              </a:rPr>
              <a:t>2026 · iPOST Cargo · Executive Brief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3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30" presetID="47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100"/>
                            </p:stCondLst>
                            <p:childTnLst>
                              <p:par>
                                <p:cTn id="40" presetID="26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100"/>
                            </p:stCondLst>
                            <p:childTnLst>
                              <p:par>
                                <p:cTn id="45" presetID="23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100"/>
                            </p:stCondLst>
                            <p:childTnLst>
                              <p:par>
                                <p:cTn id="55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100"/>
                            </p:stCondLst>
                            <p:childTnLst>
                              <p:par>
                                <p:cTn id="60" presetID="2" presetClass="entr" presetSubtype="2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2800">
                <a:solidFill>
                  <a:srgbClr val="FFFFFF"/>
                </a:solidFill>
                <a:latin typeface="Inter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540D6"/>
                </a:solidFill>
                <a:latin typeface="Inter"/>
              </a:rPr>
              <a:t>iPOST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Call Center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0A2A8A"/>
                </a:solidFill>
                <a:latin typeface="Inter"/>
              </a:rPr>
              <a:t>Muammo: An'anaviy yondashuv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Hozir nima ishlamayapti?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77440"/>
            <a:ext cx="5669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560320"/>
            <a:ext cx="868680" cy="868680"/>
          </a:xfrm>
          <a:prstGeom prst="ellipse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86868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3400"/>
              <a:t>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560320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E11D48"/>
                </a:solidFill>
                <a:latin typeface="Inter"/>
              </a:rPr>
              <a:t>Tartibsiz qo'ng'iroqlar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71800"/>
            <a:ext cx="43891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Operator qaysi mijozdan qaerga qo'ng'iroq qilganini eslay olmaydi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377440"/>
            <a:ext cx="5669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92240" y="2560320"/>
            <a:ext cx="868680" cy="868680"/>
          </a:xfrm>
          <a:prstGeom prst="ellipse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560320"/>
            <a:ext cx="86868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3400"/>
              <a:t>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2560320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E11D48"/>
                </a:solidFill>
                <a:latin typeface="Inter"/>
              </a:rPr>
              <a:t>Yo'qotilgan ma'lumotlar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2971800"/>
            <a:ext cx="43891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Qog'oz daftar / Excel'da yozish — yo'qoladi, qaytarib bo'lmaydi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5669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3931920"/>
            <a:ext cx="868680" cy="868680"/>
          </a:xfrm>
          <a:prstGeom prst="ellipse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931920"/>
            <a:ext cx="86868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3400"/>
              <a:t>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931920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E11D48"/>
                </a:solidFill>
                <a:latin typeface="Inter"/>
              </a:rPr>
              <a:t>Trek qidirish vaqti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343400"/>
            <a:ext cx="43891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Mijoz tracking so'ragach — yarim soat qidiruv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749039"/>
            <a:ext cx="5669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0" y="3931920"/>
            <a:ext cx="868680" cy="868680"/>
          </a:xfrm>
          <a:prstGeom prst="ellipse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931920"/>
            <a:ext cx="86868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3400"/>
              <a:t>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3931920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E11D48"/>
                </a:solidFill>
                <a:latin typeface="Inter"/>
              </a:rPr>
              <a:t>Operatorlar orasida tartib yo'q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0" y="4343400"/>
            <a:ext cx="43891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Bir mijoz turli operatorga qayta-qayta qo'ng'iroq qiladi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120640"/>
            <a:ext cx="5669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303520"/>
            <a:ext cx="868680" cy="868680"/>
          </a:xfrm>
          <a:prstGeom prst="ellipse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303520"/>
            <a:ext cx="86868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3400"/>
              <a:t>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5303520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E11D48"/>
                </a:solidFill>
                <a:latin typeface="Inter"/>
              </a:rPr>
              <a:t>Hisobot yo'q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20" y="5715000"/>
            <a:ext cx="43891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Kim qancha ishlagan? Necha murojaat? — bilib bo'lmaydi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5120640"/>
            <a:ext cx="5669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92240" y="5303520"/>
            <a:ext cx="868680" cy="868680"/>
          </a:xfrm>
          <a:prstGeom prst="ellipse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5303520"/>
            <a:ext cx="86868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3400"/>
              <a:t>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0" y="5303520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E11D48"/>
                </a:solidFill>
                <a:latin typeface="Inter"/>
              </a:rPr>
              <a:t>Uzoq joydan ulanish yo'q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0" y="5715000"/>
            <a:ext cx="43891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Faqat ofisda — uydan ko'rib bo'lmaydi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Inter"/>
              </a:rPr>
              <a:t>2 / 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Inter"/>
              </a:rPr>
              <a:t>iPOST CRM · Executive Brief ·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3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30" presetID="47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100"/>
                            </p:stCondLst>
                            <p:childTnLst>
                              <p:par>
                                <p:cTn id="40" presetID="26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100"/>
                            </p:stCondLst>
                            <p:childTnLst>
                              <p:par>
                                <p:cTn id="45" presetID="23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100"/>
                            </p:stCondLst>
                            <p:childTnLst>
                              <p:par>
                                <p:cTn id="55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100"/>
                            </p:stCondLst>
                            <p:childTnLst>
                              <p:par>
                                <p:cTn id="60" presetID="2" presetClass="entr" presetSubtype="2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100"/>
                            </p:stCondLst>
                            <p:childTnLst>
                              <p:par>
                                <p:cTn id="65" presetID="23" presetClass="entr" presetSubtype="0" fill="hold" grpId="1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100"/>
                            </p:stCondLst>
                            <p:childTnLst>
                              <p:par>
                                <p:cTn id="70" presetID="2" presetClass="entr" presetSubtype="4" fill="hold" grpId="1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100"/>
                            </p:stCondLst>
                            <p:childTnLst>
                              <p:par>
                                <p:cTn id="75" presetID="10" presetClass="entr" presetSubtype="0" fill="hold" grpId="1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100"/>
                            </p:stCondLst>
                            <p:childTnLst>
                              <p:par>
                                <p:cTn id="80" presetID="47" presetClass="entr" presetSubtype="0" fill="hold" grpId="1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100"/>
                            </p:stCondLst>
                            <p:childTnLst>
                              <p:par>
                                <p:cTn id="85" presetID="2" presetClass="entr" presetSubtype="8" fill="hold" grpId="1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100"/>
                            </p:stCondLst>
                            <p:childTnLst>
                              <p:par>
                                <p:cTn id="90" presetID="26" presetClass="entr" presetSubtype="0" fill="hold" grpId="1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100"/>
                            </p:stCondLst>
                            <p:childTnLst>
                              <p:par>
                                <p:cTn id="95" presetID="23" presetClass="entr" presetSubtype="0" fill="hold" grpId="1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100"/>
                            </p:stCondLst>
                            <p:childTnLst>
                              <p:par>
                                <p:cTn id="100" presetID="10" presetClass="entr" presetSubtype="0" fill="hold" grpId="1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100"/>
                            </p:stCondLst>
                            <p:childTnLst>
                              <p:par>
                                <p:cTn id="105" presetID="10" presetClass="entr" presetSubtype="0" fill="hold" grpId="2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100"/>
                            </p:stCondLst>
                            <p:childTnLst>
                              <p:par>
                                <p:cTn id="110" presetID="2" presetClass="entr" presetSubtype="2" fill="hold" grpId="2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fill="hold">
                            <p:stCondLst>
                              <p:cond delay="100"/>
                            </p:stCondLst>
                            <p:childTnLst>
                              <p:par>
                                <p:cTn id="115" presetID="23" presetClass="entr" presetSubtype="0" fill="hold" grpId="2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100"/>
                            </p:stCondLst>
                            <p:childTnLst>
                              <p:par>
                                <p:cTn id="120" presetID="2" presetClass="entr" presetSubtype="4" fill="hold" grpId="2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2800">
                <a:solidFill>
                  <a:srgbClr val="FFFFFF"/>
                </a:solidFill>
                <a:latin typeface="Inter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540D6"/>
                </a:solidFill>
                <a:latin typeface="Inter"/>
              </a:rPr>
              <a:t>iPOST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Call Center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0A2A8A"/>
                </a:solidFill>
                <a:latin typeface="Inter"/>
              </a:rPr>
              <a:t>Yechim: iPOST CRM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Yagona platforma — barcha jarayonlar bir joyda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77440"/>
            <a:ext cx="5669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560320"/>
            <a:ext cx="868680" cy="868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86868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560320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Inter"/>
              </a:rPr>
              <a:t>Avto qo'ng'iroq logi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71800"/>
            <a:ext cx="43891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Sayt o'zi yozadi: kim, qachon, qancha vaqt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377440"/>
            <a:ext cx="5669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4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92240" y="2560320"/>
            <a:ext cx="868680" cy="86868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560320"/>
            <a:ext cx="86868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2560320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0540D6"/>
                </a:solidFill>
                <a:latin typeface="Inter"/>
              </a:rPr>
              <a:t>Markaziy ma'lumot bazasi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2971800"/>
            <a:ext cx="43891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Vercel KV (Upstash Redis) — yo'qolmaydi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5669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3931920"/>
            <a:ext cx="868680" cy="8686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931920"/>
            <a:ext cx="86868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931920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  <a:latin typeface="Inter"/>
              </a:rPr>
              <a:t>1-soniyalik qidiruv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343400"/>
            <a:ext cx="43891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Trek, telefon, ism — darhol topiladi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749039"/>
            <a:ext cx="5669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0" y="3931920"/>
            <a:ext cx="868680" cy="8686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931920"/>
            <a:ext cx="86868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3931920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8B5CF6"/>
                </a:solidFill>
                <a:latin typeface="Inter"/>
              </a:rPr>
              <a:t>Cross-operator eslatma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0" y="4343400"/>
            <a:ext cx="43891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Bir mijoz qaytsa — eski operatorga xabar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120640"/>
            <a:ext cx="5669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303520"/>
            <a:ext cx="868680" cy="868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303520"/>
            <a:ext cx="86868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5303520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Inter"/>
              </a:rPr>
              <a:t>Real-time hisobot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20" y="5715000"/>
            <a:ext cx="43891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Statistika, KPI, CSV eksport — bir bosishda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5120640"/>
            <a:ext cx="56692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92240" y="5303520"/>
            <a:ext cx="868680" cy="868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5303520"/>
            <a:ext cx="86868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0" y="5303520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Inter"/>
              </a:rPr>
              <a:t>Istalgan joydan kirish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0" y="5715000"/>
            <a:ext cx="43891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Brauzer + login — uydan ham, telefon orqali ham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Inter"/>
              </a:rPr>
              <a:t>3 / 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Inter"/>
              </a:rPr>
              <a:t>iPOST CRM · Executive Brief ·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3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30" presetID="47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100"/>
                            </p:stCondLst>
                            <p:childTnLst>
                              <p:par>
                                <p:cTn id="40" presetID="26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100"/>
                            </p:stCondLst>
                            <p:childTnLst>
                              <p:par>
                                <p:cTn id="45" presetID="23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100"/>
                            </p:stCondLst>
                            <p:childTnLst>
                              <p:par>
                                <p:cTn id="55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100"/>
                            </p:stCondLst>
                            <p:childTnLst>
                              <p:par>
                                <p:cTn id="60" presetID="2" presetClass="entr" presetSubtype="2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100"/>
                            </p:stCondLst>
                            <p:childTnLst>
                              <p:par>
                                <p:cTn id="65" presetID="23" presetClass="entr" presetSubtype="0" fill="hold" grpId="1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100"/>
                            </p:stCondLst>
                            <p:childTnLst>
                              <p:par>
                                <p:cTn id="70" presetID="2" presetClass="entr" presetSubtype="4" fill="hold" grpId="1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100"/>
                            </p:stCondLst>
                            <p:childTnLst>
                              <p:par>
                                <p:cTn id="75" presetID="10" presetClass="entr" presetSubtype="0" fill="hold" grpId="1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100"/>
                            </p:stCondLst>
                            <p:childTnLst>
                              <p:par>
                                <p:cTn id="80" presetID="47" presetClass="entr" presetSubtype="0" fill="hold" grpId="1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100"/>
                            </p:stCondLst>
                            <p:childTnLst>
                              <p:par>
                                <p:cTn id="85" presetID="2" presetClass="entr" presetSubtype="8" fill="hold" grpId="1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100"/>
                            </p:stCondLst>
                            <p:childTnLst>
                              <p:par>
                                <p:cTn id="90" presetID="26" presetClass="entr" presetSubtype="0" fill="hold" grpId="1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100"/>
                            </p:stCondLst>
                            <p:childTnLst>
                              <p:par>
                                <p:cTn id="95" presetID="23" presetClass="entr" presetSubtype="0" fill="hold" grpId="1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100"/>
                            </p:stCondLst>
                            <p:childTnLst>
                              <p:par>
                                <p:cTn id="100" presetID="10" presetClass="entr" presetSubtype="0" fill="hold" grpId="1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100"/>
                            </p:stCondLst>
                            <p:childTnLst>
                              <p:par>
                                <p:cTn id="105" presetID="10" presetClass="entr" presetSubtype="0" fill="hold" grpId="2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100"/>
                            </p:stCondLst>
                            <p:childTnLst>
                              <p:par>
                                <p:cTn id="110" presetID="2" presetClass="entr" presetSubtype="2" fill="hold" grpId="2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fill="hold">
                            <p:stCondLst>
                              <p:cond delay="100"/>
                            </p:stCondLst>
                            <p:childTnLst>
                              <p:par>
                                <p:cTn id="115" presetID="23" presetClass="entr" presetSubtype="0" fill="hold" grpId="2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100"/>
                            </p:stCondLst>
                            <p:childTnLst>
                              <p:par>
                                <p:cTn id="120" presetID="2" presetClass="entr" presetSubtype="4" fill="hold" grpId="2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2800">
                <a:solidFill>
                  <a:srgbClr val="FFFFFF"/>
                </a:solidFill>
                <a:latin typeface="Inter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540D6"/>
                </a:solidFill>
                <a:latin typeface="Inter"/>
              </a:rPr>
              <a:t>iPOST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Call Center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0A2A8A"/>
                </a:solidFill>
                <a:latin typeface="Inter"/>
              </a:rPr>
              <a:t>Asosiy imkoniyatlar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Hozir saytda mavjud funksiyalar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2287" y="2377440"/>
            <a:ext cx="274320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5167" y="2560320"/>
            <a:ext cx="777240" cy="7772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167" y="2560320"/>
            <a:ext cx="77724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600"/>
              <a:t>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3847" y="2560320"/>
            <a:ext cx="1600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Face 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3847" y="2971800"/>
            <a:ext cx="1600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Kameradan tanish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06927" y="2377440"/>
            <a:ext cx="274320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89807" y="2560320"/>
            <a:ext cx="777240" cy="7772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9807" y="2560320"/>
            <a:ext cx="77724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600"/>
              <a:t>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8487" y="2560320"/>
            <a:ext cx="1600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Auto Softphone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8487" y="2971800"/>
            <a:ext cx="1600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MicroSIP / Linphone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1567" y="2377440"/>
            <a:ext cx="274320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24447" y="2560320"/>
            <a:ext cx="777240" cy="7772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2560320"/>
            <a:ext cx="77724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600"/>
              <a:t>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3127" y="2560320"/>
            <a:ext cx="1600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Murojaatlar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3127" y="2971800"/>
            <a:ext cx="1600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10,000+ mijoz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6207" y="2377440"/>
            <a:ext cx="274320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59087" y="2560320"/>
            <a:ext cx="777240" cy="7772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9087" y="2560320"/>
            <a:ext cx="77724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600"/>
              <a:t>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27767" y="2560320"/>
            <a:ext cx="1600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27767" y="2971800"/>
            <a:ext cx="1600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Kanban + drag&amp;drop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2287" y="3611880"/>
            <a:ext cx="274320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167" y="3794760"/>
            <a:ext cx="777240" cy="7772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5167" y="3794760"/>
            <a:ext cx="77724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600"/>
              <a:t>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3847" y="3794760"/>
            <a:ext cx="1600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Tezkor qidiruv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3847" y="4206240"/>
            <a:ext cx="1600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Ctrl+F / ⌘K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6927" y="3611880"/>
            <a:ext cx="274320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489807" y="3794760"/>
            <a:ext cx="777240" cy="7772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89807" y="3794760"/>
            <a:ext cx="77724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600"/>
              <a:t>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8487" y="3794760"/>
            <a:ext cx="1600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Analytics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58487" y="4206240"/>
            <a:ext cx="1600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KPI, davomiyligi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41567" y="3611880"/>
            <a:ext cx="274320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24447" y="3794760"/>
            <a:ext cx="777240" cy="7772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24447" y="3794760"/>
            <a:ext cx="77724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600"/>
              <a:t>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93127" y="3794760"/>
            <a:ext cx="1600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Yuk hisoblash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93127" y="4206240"/>
            <a:ext cx="1600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1 kg = $6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76207" y="3611880"/>
            <a:ext cx="274320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159087" y="3794760"/>
            <a:ext cx="777240" cy="7772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59087" y="3794760"/>
            <a:ext cx="77724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600"/>
              <a:t>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27767" y="3794760"/>
            <a:ext cx="1600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Filiallar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27767" y="4206240"/>
            <a:ext cx="1600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15 ta · 13 viloyat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2287" y="4846320"/>
            <a:ext cx="274320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55167" y="5029200"/>
            <a:ext cx="777240" cy="7772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5167" y="5029200"/>
            <a:ext cx="77724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600"/>
              <a:t>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3847" y="5029200"/>
            <a:ext cx="1600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E'lonlar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3847" y="5440680"/>
            <a:ext cx="1600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Operatorlarga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306927" y="4846320"/>
            <a:ext cx="274320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489807" y="5029200"/>
            <a:ext cx="777240" cy="7772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89807" y="5029200"/>
            <a:ext cx="77724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600"/>
              <a:t>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58487" y="5029200"/>
            <a:ext cx="1600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Javob shablonlari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58487" y="5440680"/>
            <a:ext cx="1600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Tezroq javob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41567" y="4846320"/>
            <a:ext cx="274320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324447" y="5029200"/>
            <a:ext cx="777240" cy="7772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24447" y="5029200"/>
            <a:ext cx="77724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600"/>
              <a:t>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93127" y="5029200"/>
            <a:ext cx="1600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Tungi rejim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93127" y="5440680"/>
            <a:ext cx="1600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Ko'z charchamaydi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976207" y="4846320"/>
            <a:ext cx="274320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159087" y="5029200"/>
            <a:ext cx="777240" cy="7772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59087" y="5029200"/>
            <a:ext cx="77724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600"/>
              <a:t>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27767" y="5029200"/>
            <a:ext cx="1600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UZ / RU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27767" y="5440680"/>
            <a:ext cx="1600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Ikki tilda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Inter"/>
              </a:rPr>
              <a:t>4 / 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Inter"/>
              </a:rPr>
              <a:t>iPOST CRM · Executive Brief ·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3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30" presetID="47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100"/>
                            </p:stCondLst>
                            <p:childTnLst>
                              <p:par>
                                <p:cTn id="40" presetID="26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100"/>
                            </p:stCondLst>
                            <p:childTnLst>
                              <p:par>
                                <p:cTn id="45" presetID="23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100"/>
                            </p:stCondLst>
                            <p:childTnLst>
                              <p:par>
                                <p:cTn id="55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100"/>
                            </p:stCondLst>
                            <p:childTnLst>
                              <p:par>
                                <p:cTn id="60" presetID="2" presetClass="entr" presetSubtype="2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100"/>
                            </p:stCondLst>
                            <p:childTnLst>
                              <p:par>
                                <p:cTn id="65" presetID="23" presetClass="entr" presetSubtype="0" fill="hold" grpId="1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100"/>
                            </p:stCondLst>
                            <p:childTnLst>
                              <p:par>
                                <p:cTn id="70" presetID="2" presetClass="entr" presetSubtype="4" fill="hold" grpId="1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100"/>
                            </p:stCondLst>
                            <p:childTnLst>
                              <p:par>
                                <p:cTn id="75" presetID="10" presetClass="entr" presetSubtype="0" fill="hold" grpId="1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100"/>
                            </p:stCondLst>
                            <p:childTnLst>
                              <p:par>
                                <p:cTn id="80" presetID="47" presetClass="entr" presetSubtype="0" fill="hold" grpId="1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100"/>
                            </p:stCondLst>
                            <p:childTnLst>
                              <p:par>
                                <p:cTn id="85" presetID="2" presetClass="entr" presetSubtype="8" fill="hold" grpId="1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100"/>
                            </p:stCondLst>
                            <p:childTnLst>
                              <p:par>
                                <p:cTn id="90" presetID="26" presetClass="entr" presetSubtype="0" fill="hold" grpId="1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100"/>
                            </p:stCondLst>
                            <p:childTnLst>
                              <p:par>
                                <p:cTn id="95" presetID="23" presetClass="entr" presetSubtype="0" fill="hold" grpId="1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100"/>
                            </p:stCondLst>
                            <p:childTnLst>
                              <p:par>
                                <p:cTn id="100" presetID="10" presetClass="entr" presetSubtype="0" fill="hold" grpId="1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100"/>
                            </p:stCondLst>
                            <p:childTnLst>
                              <p:par>
                                <p:cTn id="105" presetID="10" presetClass="entr" presetSubtype="0" fill="hold" grpId="2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100"/>
                            </p:stCondLst>
                            <p:childTnLst>
                              <p:par>
                                <p:cTn id="110" presetID="2" presetClass="entr" presetSubtype="2" fill="hold" grpId="2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fill="hold">
                            <p:stCondLst>
                              <p:cond delay="100"/>
                            </p:stCondLst>
                            <p:childTnLst>
                              <p:par>
                                <p:cTn id="115" presetID="23" presetClass="entr" presetSubtype="0" fill="hold" grpId="2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100"/>
                            </p:stCondLst>
                            <p:childTnLst>
                              <p:par>
                                <p:cTn id="120" presetID="2" presetClass="entr" presetSubtype="4" fill="hold" grpId="2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2800">
                <a:solidFill>
                  <a:srgbClr val="FFFFFF"/>
                </a:solidFill>
                <a:latin typeface="Inter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540D6"/>
                </a:solidFill>
                <a:latin typeface="Inter"/>
              </a:rPr>
              <a:t>iPOST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Call Center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0A2A8A"/>
                </a:solidFill>
                <a:latin typeface="Inter"/>
              </a:rPr>
              <a:t>Ish jarayoni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Bir murojaatning to'liq hayot davri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60320"/>
            <a:ext cx="18288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4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800" y="2423160"/>
            <a:ext cx="365760" cy="36576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2423160"/>
            <a:ext cx="365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79"/>
            <a:ext cx="18288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000" b="0" i="0">
                <a:solidFill>
                  <a:srgbClr val="0540D6"/>
                </a:solidFill>
                <a:latin typeface="Inter"/>
              </a:rPr>
              <a:t>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91839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334055"/>
                </a:solidFill>
                <a:latin typeface="Inter"/>
              </a:rPr>
              <a:t>Mijoz qo'ng'iroq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57600"/>
            <a:ext cx="17373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Inter"/>
              </a:rPr>
              <a:t>Telefon raqami bo'yicha avtoma
tik avval bor-yo'qligi tekshiriladi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2560320"/>
            <a:ext cx="18288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4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03320" y="2423160"/>
            <a:ext cx="365760" cy="36576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2423160"/>
            <a:ext cx="365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697479"/>
            <a:ext cx="18288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000" b="0" i="0">
                <a:solidFill>
                  <a:srgbClr val="0540D6"/>
                </a:solidFill>
                <a:latin typeface="Inter"/>
              </a:rPr>
              <a:t>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39" y="3291839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334055"/>
                </a:solidFill>
                <a:latin typeface="Inter"/>
              </a:rPr>
              <a:t>Murojaat ochiladi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39" y="3657600"/>
            <a:ext cx="17373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Inter"/>
              </a:rPr>
              <a:t>Trek, F.I.O, kategoriya, izoh
kiritiladi. Trek raqami avto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2560320"/>
            <a:ext cx="18288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4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77840" y="2423160"/>
            <a:ext cx="365760" cy="36576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2423160"/>
            <a:ext cx="365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2697479"/>
            <a:ext cx="18288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000" b="0" i="0">
                <a:solidFill>
                  <a:srgbClr val="0540D6"/>
                </a:solidFill>
                <a:latin typeface="Inter"/>
              </a:rPr>
              <a:t>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59" y="3291839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334055"/>
                </a:solidFill>
                <a:latin typeface="Inter"/>
              </a:rPr>
              <a:t>Pipeline'da harakat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59" y="3657600"/>
            <a:ext cx="17373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Inter"/>
              </a:rPr>
              <a:t>Yangi → Jarayonda → Tekshi
rilmoqda → Hal etildi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59" y="2560320"/>
            <a:ext cx="18288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4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452359" y="2423160"/>
            <a:ext cx="365760" cy="36576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59" y="2423160"/>
            <a:ext cx="365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59" y="2697479"/>
            <a:ext cx="18288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000" b="0" i="0">
                <a:solidFill>
                  <a:srgbClr val="0540D6"/>
                </a:solidFill>
                <a:latin typeface="Inter"/>
              </a:rPr>
              <a:t>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79" y="3291839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334055"/>
                </a:solidFill>
                <a:latin typeface="Inter"/>
              </a:rPr>
              <a:t>Telefon va eslatma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79" y="3657600"/>
            <a:ext cx="17373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Inter"/>
              </a:rPr>
              <a:t>Mijozga qo'ng'iroq, ichki izoh,
boshqa operatorga ma'lum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2560320"/>
            <a:ext cx="18288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4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326880" y="2423160"/>
            <a:ext cx="365760" cy="36576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2423160"/>
            <a:ext cx="365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2697479"/>
            <a:ext cx="18288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000" b="0" i="0">
                <a:solidFill>
                  <a:srgbClr val="0540D6"/>
                </a:solidFill>
                <a:latin typeface="Inter"/>
              </a:rPr>
              <a:t>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3291839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334055"/>
                </a:solidFill>
                <a:latin typeface="Inter"/>
              </a:rPr>
              <a:t>Hal etish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3657600"/>
            <a:ext cx="17373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Inter"/>
              </a:rPr>
              <a:t>Resolution + Status "Hal etildi"
Log avtomatik saqlanadi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29800" y="2560320"/>
            <a:ext cx="18288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4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201400" y="2423160"/>
            <a:ext cx="365760" cy="36576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1400" y="2423160"/>
            <a:ext cx="365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800" y="2697479"/>
            <a:ext cx="18288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000" b="0" i="0">
                <a:solidFill>
                  <a:srgbClr val="0540D6"/>
                </a:solidFill>
                <a:latin typeface="Inter"/>
              </a:rPr>
              <a:t>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3291839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334055"/>
                </a:solidFill>
                <a:latin typeface="Inter"/>
              </a:rPr>
              <a:t>Hisobot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3657600"/>
            <a:ext cx="17373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Inter"/>
              </a:rPr>
              <a:t>Analytics'da statistika
CSV eksport — Excel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029200"/>
            <a:ext cx="11247120" cy="1188720"/>
          </a:xfrm>
          <a:prstGeom prst="roundRect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16636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Inter"/>
              </a:rPr>
              <a:t>Natijada: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3847" y="55321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Inter"/>
              </a:rPr>
              <a:t>85%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3847" y="5943600"/>
            <a:ext cx="22860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 i="0">
                <a:solidFill>
                  <a:srgbClr val="CCDDFF"/>
                </a:solidFill>
                <a:latin typeface="Inter"/>
              </a:rPr>
              <a:t>Tezroq javob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09847" y="55321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Inter"/>
              </a:rPr>
              <a:t>3x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09847" y="5943600"/>
            <a:ext cx="22860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 i="0">
                <a:solidFill>
                  <a:srgbClr val="CCDDFF"/>
                </a:solidFill>
                <a:latin typeface="Inter"/>
              </a:rPr>
              <a:t>Ko'proq murojaat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5847" y="55321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Inter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95847" y="5943600"/>
            <a:ext cx="22860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 i="0">
                <a:solidFill>
                  <a:srgbClr val="CCDDFF"/>
                </a:solidFill>
                <a:latin typeface="Inter"/>
              </a:rPr>
              <a:t>Saqlanish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81847" y="55321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Inter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1847" y="5943600"/>
            <a:ext cx="22860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 i="0">
                <a:solidFill>
                  <a:srgbClr val="CCDDFF"/>
                </a:solidFill>
                <a:latin typeface="Inter"/>
              </a:rPr>
              <a:t>Yo'qotilgan log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Inter"/>
              </a:rPr>
              <a:t>5 / 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Inter"/>
              </a:rPr>
              <a:t>iPOST CRM · Executive Brief ·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3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30" presetID="47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100"/>
                            </p:stCondLst>
                            <p:childTnLst>
                              <p:par>
                                <p:cTn id="40" presetID="26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100"/>
                            </p:stCondLst>
                            <p:childTnLst>
                              <p:par>
                                <p:cTn id="45" presetID="23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100"/>
                            </p:stCondLst>
                            <p:childTnLst>
                              <p:par>
                                <p:cTn id="55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100"/>
                            </p:stCondLst>
                            <p:childTnLst>
                              <p:par>
                                <p:cTn id="60" presetID="2" presetClass="entr" presetSubtype="2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100"/>
                            </p:stCondLst>
                            <p:childTnLst>
                              <p:par>
                                <p:cTn id="65" presetID="23" presetClass="entr" presetSubtype="0" fill="hold" grpId="1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100"/>
                            </p:stCondLst>
                            <p:childTnLst>
                              <p:par>
                                <p:cTn id="70" presetID="2" presetClass="entr" presetSubtype="4" fill="hold" grpId="1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100"/>
                            </p:stCondLst>
                            <p:childTnLst>
                              <p:par>
                                <p:cTn id="75" presetID="10" presetClass="entr" presetSubtype="0" fill="hold" grpId="1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100"/>
                            </p:stCondLst>
                            <p:childTnLst>
                              <p:par>
                                <p:cTn id="80" presetID="47" presetClass="entr" presetSubtype="0" fill="hold" grpId="1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100"/>
                            </p:stCondLst>
                            <p:childTnLst>
                              <p:par>
                                <p:cTn id="85" presetID="2" presetClass="entr" presetSubtype="8" fill="hold" grpId="1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100"/>
                            </p:stCondLst>
                            <p:childTnLst>
                              <p:par>
                                <p:cTn id="90" presetID="26" presetClass="entr" presetSubtype="0" fill="hold" grpId="1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100"/>
                            </p:stCondLst>
                            <p:childTnLst>
                              <p:par>
                                <p:cTn id="95" presetID="23" presetClass="entr" presetSubtype="0" fill="hold" grpId="1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100"/>
                            </p:stCondLst>
                            <p:childTnLst>
                              <p:par>
                                <p:cTn id="100" presetID="10" presetClass="entr" presetSubtype="0" fill="hold" grpId="1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100"/>
                            </p:stCondLst>
                            <p:childTnLst>
                              <p:par>
                                <p:cTn id="105" presetID="10" presetClass="entr" presetSubtype="0" fill="hold" grpId="2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100"/>
                            </p:stCondLst>
                            <p:childTnLst>
                              <p:par>
                                <p:cTn id="110" presetID="2" presetClass="entr" presetSubtype="2" fill="hold" grpId="2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fill="hold">
                            <p:stCondLst>
                              <p:cond delay="100"/>
                            </p:stCondLst>
                            <p:childTnLst>
                              <p:par>
                                <p:cTn id="115" presetID="23" presetClass="entr" presetSubtype="0" fill="hold" grpId="2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100"/>
                            </p:stCondLst>
                            <p:childTnLst>
                              <p:par>
                                <p:cTn id="120" presetID="2" presetClass="entr" presetSubtype="4" fill="hold" grpId="2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2800">
                <a:solidFill>
                  <a:srgbClr val="FFFFFF"/>
                </a:solidFill>
                <a:latin typeface="Inter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540D6"/>
                </a:solidFill>
                <a:latin typeface="Inter"/>
              </a:rPr>
              <a:t>iPOST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Call Center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0A2A8A"/>
                </a:solidFill>
                <a:latin typeface="Inter"/>
              </a:rPr>
              <a:t>Telefon liniyasi integratsiyasi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Sayt → MicroSIP/Linphone → Asterisk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43200"/>
            <a:ext cx="2743200" cy="2286000"/>
          </a:xfrm>
          <a:prstGeom prst="roundRect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Inter"/>
              </a:rPr>
              <a:t>1. SAYT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338328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3832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200"/>
              <a:t>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3484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Brauzer + CRM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1">
                <a:solidFill>
                  <a:srgbClr val="DBEAFE"/>
                </a:solidFill>
                <a:latin typeface="Inter"/>
              </a:rPr>
              <a:t>Qo'ng'iroq tugmasi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383280" y="3703320"/>
            <a:ext cx="731520" cy="45720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333756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1">
                <a:solidFill>
                  <a:srgbClr val="F59E0B"/>
                </a:solidFill>
                <a:latin typeface="Courier New"/>
              </a:rPr>
              <a:t>callto: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2743200"/>
            <a:ext cx="2743200" cy="22860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288036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Inter"/>
              </a:rPr>
              <a:t>2. SOFTPHONE</a:t>
            </a:r>
          </a:p>
        </p:txBody>
      </p:sp>
      <p:sp>
        <p:nvSpPr>
          <p:cNvPr id="19" name="Oval 18"/>
          <p:cNvSpPr/>
          <p:nvPr/>
        </p:nvSpPr>
        <p:spPr>
          <a:xfrm>
            <a:off x="5212080" y="338328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33832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200"/>
              <a:t>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43484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MicroSIP / Linphone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75488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1">
                <a:solidFill>
                  <a:srgbClr val="CCFFE5"/>
                </a:solidFill>
                <a:latin typeface="Inter"/>
              </a:rPr>
              <a:t>PC'da ochiq turadi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223760" y="3703320"/>
            <a:ext cx="731520" cy="45720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333756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1">
                <a:solidFill>
                  <a:srgbClr val="F59E0B"/>
                </a:solidFill>
                <a:latin typeface="Courier New"/>
              </a:rPr>
              <a:t>SIP UDP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2743200"/>
            <a:ext cx="2743200" cy="2286000"/>
          </a:xfrm>
          <a:prstGeom prst="roundRect">
            <a:avLst/>
          </a:prstGeom>
          <a:solidFill>
            <a:srgbClr val="0A2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288036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Inter"/>
              </a:rPr>
              <a:t>3. PBX SERVER</a:t>
            </a:r>
          </a:p>
        </p:txBody>
      </p:sp>
      <p:sp>
        <p:nvSpPr>
          <p:cNvPr id="27" name="Oval 26"/>
          <p:cNvSpPr/>
          <p:nvPr/>
        </p:nvSpPr>
        <p:spPr>
          <a:xfrm>
            <a:off x="9052560" y="338328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33832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200"/>
              <a:t>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3484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Asterisk / FreePBX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75488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1">
                <a:solidFill>
                  <a:srgbClr val="DBEAFE"/>
                </a:solidFill>
                <a:latin typeface="Courier New"/>
              </a:rPr>
              <a:t>192.168.7.253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303520"/>
            <a:ext cx="1124712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44068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334055"/>
                </a:solidFill>
                <a:latin typeface="Inter"/>
              </a:rPr>
              <a:t>🧾 Sayt avtomatik saqlaydi: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Operator · Mijoz · Trek raqami · Boshlanish vaqti · Tugash vaqti · Bog'landi/Javob yo'q · Davomiyligi · Gaplashish vaqti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Inter"/>
              </a:rPr>
              <a:t>6 / 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Inter"/>
              </a:rPr>
              <a:t>iPOST CRM · Executive Brief ·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3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30" presetID="47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100"/>
                            </p:stCondLst>
                            <p:childTnLst>
                              <p:par>
                                <p:cTn id="40" presetID="26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100"/>
                            </p:stCondLst>
                            <p:childTnLst>
                              <p:par>
                                <p:cTn id="45" presetID="23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100"/>
                            </p:stCondLst>
                            <p:childTnLst>
                              <p:par>
                                <p:cTn id="55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100"/>
                            </p:stCondLst>
                            <p:childTnLst>
                              <p:par>
                                <p:cTn id="60" presetID="2" presetClass="entr" presetSubtype="2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100"/>
                            </p:stCondLst>
                            <p:childTnLst>
                              <p:par>
                                <p:cTn id="65" presetID="23" presetClass="entr" presetSubtype="0" fill="hold" grpId="1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100"/>
                            </p:stCondLst>
                            <p:childTnLst>
                              <p:par>
                                <p:cTn id="70" presetID="2" presetClass="entr" presetSubtype="4" fill="hold" grpId="1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100"/>
                            </p:stCondLst>
                            <p:childTnLst>
                              <p:par>
                                <p:cTn id="75" presetID="10" presetClass="entr" presetSubtype="0" fill="hold" grpId="1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100"/>
                            </p:stCondLst>
                            <p:childTnLst>
                              <p:par>
                                <p:cTn id="80" presetID="47" presetClass="entr" presetSubtype="0" fill="hold" grpId="1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100"/>
                            </p:stCondLst>
                            <p:childTnLst>
                              <p:par>
                                <p:cTn id="85" presetID="2" presetClass="entr" presetSubtype="8" fill="hold" grpId="1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100"/>
                            </p:stCondLst>
                            <p:childTnLst>
                              <p:par>
                                <p:cTn id="90" presetID="26" presetClass="entr" presetSubtype="0" fill="hold" grpId="1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100"/>
                            </p:stCondLst>
                            <p:childTnLst>
                              <p:par>
                                <p:cTn id="95" presetID="23" presetClass="entr" presetSubtype="0" fill="hold" grpId="1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100"/>
                            </p:stCondLst>
                            <p:childTnLst>
                              <p:par>
                                <p:cTn id="100" presetID="10" presetClass="entr" presetSubtype="0" fill="hold" grpId="1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100"/>
                            </p:stCondLst>
                            <p:childTnLst>
                              <p:par>
                                <p:cTn id="105" presetID="10" presetClass="entr" presetSubtype="0" fill="hold" grpId="2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100"/>
                            </p:stCondLst>
                            <p:childTnLst>
                              <p:par>
                                <p:cTn id="110" presetID="2" presetClass="entr" presetSubtype="2" fill="hold" grpId="2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fill="hold">
                            <p:stCondLst>
                              <p:cond delay="100"/>
                            </p:stCondLst>
                            <p:childTnLst>
                              <p:par>
                                <p:cTn id="115" presetID="23" presetClass="entr" presetSubtype="0" fill="hold" grpId="2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100"/>
                            </p:stCondLst>
                            <p:childTnLst>
                              <p:par>
                                <p:cTn id="120" presetID="2" presetClass="entr" presetSubtype="4" fill="hold" grpId="2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2800">
                <a:solidFill>
                  <a:srgbClr val="FFFFFF"/>
                </a:solidFill>
                <a:latin typeface="Inter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540D6"/>
                </a:solidFill>
                <a:latin typeface="Inter"/>
              </a:rPr>
              <a:t>iPOST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Call Center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0A2A8A"/>
                </a:solidFill>
                <a:latin typeface="Inter"/>
              </a:rPr>
              <a:t>Real-time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Boshqaruv uchun darhol ko'rinadigan ma'lumotlar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2468880"/>
          <a:ext cx="566928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0" y="2468880"/>
          <a:ext cx="548640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76072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334055"/>
                </a:solidFill>
                <a:latin typeface="Inter"/>
              </a:rPr>
              <a:t>Har bir operator KPI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8076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Inter"/>
              </a:rPr>
              <a:t>Bog'langan va javobsiz qo'ng'iroqlar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7607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334055"/>
                </a:solidFill>
                <a:latin typeface="Inter"/>
              </a:rPr>
              <a:t>Qo'ng'iroqlar natijasi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  <a:latin typeface="Inter"/>
              </a:rPr>
              <a:t>Umumiy taqsimot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Inter"/>
              </a:rPr>
              <a:t>7 /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Inter"/>
              </a:rPr>
              <a:t>iPOST CRM · Executive Brief ·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3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30" presetID="47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100"/>
                            </p:stCondLst>
                            <p:childTnLst>
                              <p:par>
                                <p:cTn id="40" presetID="26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100"/>
                            </p:stCondLst>
                            <p:childTnLst>
                              <p:par>
                                <p:cTn id="45" presetID="23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100"/>
                            </p:stCondLst>
                            <p:childTnLst>
                              <p:par>
                                <p:cTn id="55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100"/>
                            </p:stCondLst>
                            <p:childTnLst>
                              <p:par>
                                <p:cTn id="60" presetID="2" presetClass="entr" presetSubtype="2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2800">
                <a:solidFill>
                  <a:srgbClr val="FFFFFF"/>
                </a:solidFill>
                <a:latin typeface="Inter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540D6"/>
                </a:solidFill>
                <a:latin typeface="Inter"/>
              </a:rPr>
              <a:t>iPOST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Call Center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0A2A8A"/>
                </a:solidFill>
                <a:latin typeface="Inter"/>
              </a:rPr>
              <a:t>Texnologiya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Zamonaviy va ishonchli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774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514600"/>
            <a:ext cx="502920" cy="50292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146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⚛️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888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7889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React 18 + TypeScript + Vite + Tailwind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3774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5080" y="2514600"/>
            <a:ext cx="502920" cy="50292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5146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59" y="246888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UI/UX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59" y="27889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Framer Motion · Lucide Icons · Recharts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2918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3429000"/>
            <a:ext cx="502920" cy="50292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4290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☁️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38328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Backend /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7033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Vercel KV (Upstash Redis) · Firebase optional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2918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55080" y="3429000"/>
            <a:ext cx="502920" cy="50292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290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338328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Telefon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59" y="37033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callto:/sip: + MicroSIP/Linphone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062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4360" y="4343400"/>
            <a:ext cx="502920" cy="50292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3434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297679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Face 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6177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face-api.js (TinyFaceDetector + 68-points)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2062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55080" y="4343400"/>
            <a:ext cx="502920" cy="50292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43434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59" y="4297679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Xavfsizlik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59" y="46177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HTTPS · Session timeout · KV encryption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1206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94360" y="5257800"/>
            <a:ext cx="502920" cy="50292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2578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4440" y="5212079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Platform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34440" y="55321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PWA · iOS · Android · Windows · macOS · Linux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1206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5080" y="5257800"/>
            <a:ext cx="502920" cy="50292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5080" y="52578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5159" y="5212079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Hosting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59" y="55321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Vercel CDN · Global Edge Network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Inter"/>
              </a:rPr>
              <a:t>8 / 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Inter"/>
              </a:rPr>
              <a:t>iPOST CRM · Executive Brief ·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3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30" presetID="47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100"/>
                            </p:stCondLst>
                            <p:childTnLst>
                              <p:par>
                                <p:cTn id="40" presetID="26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100"/>
                            </p:stCondLst>
                            <p:childTnLst>
                              <p:par>
                                <p:cTn id="45" presetID="23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100"/>
                            </p:stCondLst>
                            <p:childTnLst>
                              <p:par>
                                <p:cTn id="55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100"/>
                            </p:stCondLst>
                            <p:childTnLst>
                              <p:par>
                                <p:cTn id="60" presetID="2" presetClass="entr" presetSubtype="2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100"/>
                            </p:stCondLst>
                            <p:childTnLst>
                              <p:par>
                                <p:cTn id="65" presetID="23" presetClass="entr" presetSubtype="0" fill="hold" grpId="1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100"/>
                            </p:stCondLst>
                            <p:childTnLst>
                              <p:par>
                                <p:cTn id="70" presetID="2" presetClass="entr" presetSubtype="4" fill="hold" grpId="1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100"/>
                            </p:stCondLst>
                            <p:childTnLst>
                              <p:par>
                                <p:cTn id="75" presetID="10" presetClass="entr" presetSubtype="0" fill="hold" grpId="1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100"/>
                            </p:stCondLst>
                            <p:childTnLst>
                              <p:par>
                                <p:cTn id="80" presetID="47" presetClass="entr" presetSubtype="0" fill="hold" grpId="1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100"/>
                            </p:stCondLst>
                            <p:childTnLst>
                              <p:par>
                                <p:cTn id="85" presetID="2" presetClass="entr" presetSubtype="8" fill="hold" grpId="1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100"/>
                            </p:stCondLst>
                            <p:childTnLst>
                              <p:par>
                                <p:cTn id="90" presetID="26" presetClass="entr" presetSubtype="0" fill="hold" grpId="1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100"/>
                            </p:stCondLst>
                            <p:childTnLst>
                              <p:par>
                                <p:cTn id="95" presetID="23" presetClass="entr" presetSubtype="0" fill="hold" grpId="1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100"/>
                            </p:stCondLst>
                            <p:childTnLst>
                              <p:par>
                                <p:cTn id="100" presetID="10" presetClass="entr" presetSubtype="0" fill="hold" grpId="1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100"/>
                            </p:stCondLst>
                            <p:childTnLst>
                              <p:par>
                                <p:cTn id="105" presetID="10" presetClass="entr" presetSubtype="0" fill="hold" grpId="2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100"/>
                            </p:stCondLst>
                            <p:childTnLst>
                              <p:par>
                                <p:cTn id="110" presetID="2" presetClass="entr" presetSubtype="2" fill="hold" grpId="2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fill="hold">
                            <p:stCondLst>
                              <p:cond delay="100"/>
                            </p:stCondLst>
                            <p:childTnLst>
                              <p:par>
                                <p:cTn id="115" presetID="23" presetClass="entr" presetSubtype="0" fill="hold" grpId="2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100"/>
                            </p:stCondLst>
                            <p:childTnLst>
                              <p:par>
                                <p:cTn id="120" presetID="2" presetClass="entr" presetSubtype="4" fill="hold" grpId="2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2800">
                <a:solidFill>
                  <a:srgbClr val="FFFFFF"/>
                </a:solidFill>
                <a:latin typeface="Inter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540D6"/>
                </a:solidFill>
                <a:latin typeface="Inter"/>
              </a:rPr>
              <a:t>iPOST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Call Center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0A2A8A"/>
                </a:solidFill>
                <a:latin typeface="Inter"/>
              </a:rPr>
              <a:t>Faollik va scalability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Uzoq muddatga mo'ljallangan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8007" y="2468880"/>
            <a:ext cx="2651760" cy="1554480"/>
          </a:xfrm>
          <a:prstGeom prst="roundRect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8007" y="2606040"/>
            <a:ext cx="265176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Inter"/>
              </a:rPr>
              <a:t>24,000+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007" y="3383280"/>
            <a:ext cx="2651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Murojaat / 2 yil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2647" y="2468880"/>
            <a:ext cx="2651760" cy="1554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2647" y="2606040"/>
            <a:ext cx="265176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Inter"/>
              </a:rPr>
              <a:t>1,000+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2647" y="3383280"/>
            <a:ext cx="2651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Qo'ng'iroq / 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468880"/>
            <a:ext cx="2651760" cy="15544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7287" y="2606040"/>
            <a:ext cx="265176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Inter"/>
              </a:rPr>
              <a:t>100ms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383280"/>
            <a:ext cx="2651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Qidiruv vaqti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21927" y="2468880"/>
            <a:ext cx="2651760" cy="15544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1927" y="2606040"/>
            <a:ext cx="265176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Inter"/>
              </a:rPr>
              <a:t>99.9%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1927" y="3383280"/>
            <a:ext cx="2651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Uptime SLA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1" i="0">
                <a:solidFill>
                  <a:srgbClr val="334055"/>
                </a:solidFill>
                <a:latin typeface="Inter"/>
              </a:rPr>
              <a:t>Uzoq muddat ishlash uchun: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5486400" cy="594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46320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0" i="0">
                <a:solidFill>
                  <a:srgbClr val="0540D6"/>
                </a:solidFill>
                <a:latin typeface="Inter"/>
              </a:rPr>
              <a:t>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855464"/>
            <a:ext cx="48463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334055"/>
                </a:solidFill>
                <a:latin typeface="Inter"/>
              </a:rPr>
              <a:t>Avto-arxivlash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111496"/>
            <a:ext cx="48463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365 kundan eski tugagan murojaatlar arxivga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800600"/>
            <a:ext cx="5486400" cy="594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846320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0" i="0">
                <a:solidFill>
                  <a:srgbClr val="0540D6"/>
                </a:solidFill>
                <a:latin typeface="Inter"/>
              </a:rPr>
              <a:t>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59" y="4855464"/>
            <a:ext cx="48463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334055"/>
                </a:solidFill>
                <a:latin typeface="Inter"/>
              </a:rPr>
              <a:t>Session timeout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59" y="5111496"/>
            <a:ext cx="48463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30 daqiqa faollik bo'lmasa — avto chiqish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486400"/>
            <a:ext cx="5486400" cy="594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532120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0" i="0">
                <a:solidFill>
                  <a:srgbClr val="0540D6"/>
                </a:solidFill>
                <a:latin typeface="Inter"/>
              </a:rPr>
              <a:t>☁️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541264"/>
            <a:ext cx="48463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334055"/>
                </a:solidFill>
                <a:latin typeface="Inter"/>
              </a:rPr>
              <a:t>KV markaziy baza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797296"/>
            <a:ext cx="48463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Boshqa qurilmadan kirib kelganda ham bir xil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5486400"/>
            <a:ext cx="5486400" cy="594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5532120"/>
            <a:ext cx="3657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0" i="0">
                <a:solidFill>
                  <a:srgbClr val="0540D6"/>
                </a:solidFill>
                <a:latin typeface="Inter"/>
              </a:rPr>
              <a:t>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59" y="5541264"/>
            <a:ext cx="48463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334055"/>
                </a:solidFill>
                <a:latin typeface="Inter"/>
              </a:rPr>
              <a:t>JSON backup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59" y="5797296"/>
            <a:ext cx="48463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Bir bosishda butun ma'lumotni eksport / import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Inter"/>
              </a:rPr>
              <a:t>9 /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Inter"/>
              </a:rPr>
              <a:t>iPOST CRM · Executive Brief ·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3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30" presetID="47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100"/>
                            </p:stCondLst>
                            <p:childTnLst>
                              <p:par>
                                <p:cTn id="40" presetID="26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100"/>
                            </p:stCondLst>
                            <p:childTnLst>
                              <p:par>
                                <p:cTn id="45" presetID="23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100"/>
                            </p:stCondLst>
                            <p:childTnLst>
                              <p:par>
                                <p:cTn id="55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100"/>
                            </p:stCondLst>
                            <p:childTnLst>
                              <p:par>
                                <p:cTn id="60" presetID="2" presetClass="entr" presetSubtype="2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100"/>
                            </p:stCondLst>
                            <p:childTnLst>
                              <p:par>
                                <p:cTn id="65" presetID="23" presetClass="entr" presetSubtype="0" fill="hold" grpId="1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100"/>
                            </p:stCondLst>
                            <p:childTnLst>
                              <p:par>
                                <p:cTn id="70" presetID="2" presetClass="entr" presetSubtype="4" fill="hold" grpId="1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100"/>
                            </p:stCondLst>
                            <p:childTnLst>
                              <p:par>
                                <p:cTn id="75" presetID="10" presetClass="entr" presetSubtype="0" fill="hold" grpId="1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100"/>
                            </p:stCondLst>
                            <p:childTnLst>
                              <p:par>
                                <p:cTn id="80" presetID="47" presetClass="entr" presetSubtype="0" fill="hold" grpId="1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100"/>
                            </p:stCondLst>
                            <p:childTnLst>
                              <p:par>
                                <p:cTn id="85" presetID="2" presetClass="entr" presetSubtype="8" fill="hold" grpId="1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100"/>
                            </p:stCondLst>
                            <p:childTnLst>
                              <p:par>
                                <p:cTn id="90" presetID="26" presetClass="entr" presetSubtype="0" fill="hold" grpId="1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100"/>
                            </p:stCondLst>
                            <p:childTnLst>
                              <p:par>
                                <p:cTn id="95" presetID="23" presetClass="entr" presetSubtype="0" fill="hold" grpId="1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100"/>
                            </p:stCondLst>
                            <p:childTnLst>
                              <p:par>
                                <p:cTn id="100" presetID="10" presetClass="entr" presetSubtype="0" fill="hold" grpId="1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100"/>
                            </p:stCondLst>
                            <p:childTnLst>
                              <p:par>
                                <p:cTn id="105" presetID="10" presetClass="entr" presetSubtype="0" fill="hold" grpId="2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100"/>
                            </p:stCondLst>
                            <p:childTnLst>
                              <p:par>
                                <p:cTn id="110" presetID="2" presetClass="entr" presetSubtype="2" fill="hold" grpId="2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fill="hold">
                            <p:stCondLst>
                              <p:cond delay="100"/>
                            </p:stCondLst>
                            <p:childTnLst>
                              <p:par>
                                <p:cTn id="115" presetID="23" presetClass="entr" presetSubtype="0" fill="hold" grpId="2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100"/>
                            </p:stCondLst>
                            <p:childTnLst>
                              <p:par>
                                <p:cTn id="120" presetID="2" presetClass="entr" presetSubtype="4" fill="hold" grpId="2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2800">
                <a:solidFill>
                  <a:srgbClr val="FFFFFF"/>
                </a:solidFill>
                <a:latin typeface="Inter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540D6"/>
                </a:solidFill>
                <a:latin typeface="Inter"/>
              </a:rPr>
              <a:t>iPOST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Call Center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0A2A8A"/>
                </a:solidFill>
                <a:latin typeface="Inter"/>
              </a:rPr>
              <a:t>Tijorat foyda (ROI)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Konkret raqamlar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77440"/>
            <a:ext cx="11247120" cy="3840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Inter"/>
              </a:rPr>
              <a:t>Ko'rsatkich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56032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E11D48"/>
                </a:solidFill>
                <a:latin typeface="Inter"/>
              </a:rPr>
              <a:t>Avval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56032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Inter"/>
              </a:rPr>
              <a:t>iPOST CRM bilan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256032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1" i="0">
                <a:solidFill>
                  <a:srgbClr val="0540D6"/>
                </a:solidFill>
                <a:latin typeface="Inter"/>
              </a:rPr>
              <a:t>Yaxshilanish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26080"/>
            <a:ext cx="11064240" cy="15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0896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334055"/>
                </a:solidFill>
                <a:latin typeface="Inter"/>
              </a:rPr>
              <a:t>Mijozga javob vaqti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10896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E11D48"/>
                </a:solidFill>
                <a:latin typeface="Inter"/>
              </a:rPr>
              <a:t>10–15 daqiqa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10896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Inter"/>
              </a:rPr>
              <a:t>2 daqiqa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108960"/>
            <a:ext cx="1371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0540D6"/>
                </a:solidFill>
                <a:latin typeface="Inter"/>
              </a:rPr>
              <a:t>−85%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61188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334055"/>
                </a:solidFill>
                <a:latin typeface="Inter"/>
              </a:rPr>
              <a:t>Trek qidirish vaqti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61188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E11D48"/>
                </a:solidFill>
                <a:latin typeface="Inter"/>
              </a:rPr>
              <a:t>5–10 daqiqa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61188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Inter"/>
              </a:rPr>
              <a:t>1 soniya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3611880"/>
            <a:ext cx="1371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0540D6"/>
                </a:solidFill>
                <a:latin typeface="Inter"/>
              </a:rPr>
              <a:t>−99%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1480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334055"/>
                </a:solidFill>
                <a:latin typeface="Inter"/>
              </a:rPr>
              <a:t>Yo'qotilgan murojaat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11480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E11D48"/>
                </a:solidFill>
                <a:latin typeface="Inter"/>
              </a:rPr>
              <a:t>10–15%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11480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Inter"/>
              </a:rP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4114800"/>
            <a:ext cx="1371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0540D6"/>
                </a:solidFill>
                <a:latin typeface="Inter"/>
              </a:rPr>
              <a:t>−100%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617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334055"/>
                </a:solidFill>
                <a:latin typeface="Inter"/>
              </a:rPr>
              <a:t>Operator unumdorligi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617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E11D48"/>
                </a:solidFill>
                <a:latin typeface="Inter"/>
              </a:rPr>
              <a:t>30 ta / kun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61772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Inter"/>
              </a:rPr>
              <a:t>100 ta / kun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4617720"/>
            <a:ext cx="1371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0540D6"/>
                </a:solidFill>
                <a:latin typeface="Inter"/>
              </a:rPr>
              <a:t>+233%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2064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334055"/>
                </a:solidFill>
                <a:latin typeface="Inter"/>
              </a:rPr>
              <a:t>Operatsion xarajat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512064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E11D48"/>
                </a:solidFill>
                <a:latin typeface="Inter"/>
              </a:rPr>
              <a:t>Yuqori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512064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Inter"/>
              </a:rPr>
              <a:t>Past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5120640"/>
            <a:ext cx="1371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0540D6"/>
                </a:solidFill>
                <a:latin typeface="Inter"/>
              </a:rPr>
              <a:t>−40%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62356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334055"/>
                </a:solidFill>
                <a:latin typeface="Inter"/>
              </a:rPr>
              <a:t>Hisobot tayyorlash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562356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E11D48"/>
                </a:solidFill>
                <a:latin typeface="Inter"/>
              </a:rPr>
              <a:t>1 hafta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62356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Inter"/>
              </a:rPr>
              <a:t>5 soniya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5623560"/>
            <a:ext cx="1371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0540D6"/>
                </a:solidFill>
                <a:latin typeface="Inter"/>
              </a:rPr>
              <a:t>−99.9%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Inter"/>
              </a:rPr>
              <a:t>10 / 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Inter"/>
              </a:rPr>
              <a:t>iPOST CRM · Executive Brief ·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3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30" presetID="47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100"/>
                            </p:stCondLst>
                            <p:childTnLst>
                              <p:par>
                                <p:cTn id="40" presetID="26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100"/>
                            </p:stCondLst>
                            <p:childTnLst>
                              <p:par>
                                <p:cTn id="45" presetID="23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100"/>
                            </p:stCondLst>
                            <p:childTnLst>
                              <p:par>
                                <p:cTn id="55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100"/>
                            </p:stCondLst>
                            <p:childTnLst>
                              <p:par>
                                <p:cTn id="60" presetID="2" presetClass="entr" presetSubtype="2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100"/>
                            </p:stCondLst>
                            <p:childTnLst>
                              <p:par>
                                <p:cTn id="65" presetID="23" presetClass="entr" presetSubtype="0" fill="hold" grpId="1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100"/>
                            </p:stCondLst>
                            <p:childTnLst>
                              <p:par>
                                <p:cTn id="70" presetID="2" presetClass="entr" presetSubtype="4" fill="hold" grpId="1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100"/>
                            </p:stCondLst>
                            <p:childTnLst>
                              <p:par>
                                <p:cTn id="75" presetID="10" presetClass="entr" presetSubtype="0" fill="hold" grpId="1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100"/>
                            </p:stCondLst>
                            <p:childTnLst>
                              <p:par>
                                <p:cTn id="80" presetID="47" presetClass="entr" presetSubtype="0" fill="hold" grpId="1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100"/>
                            </p:stCondLst>
                            <p:childTnLst>
                              <p:par>
                                <p:cTn id="85" presetID="2" presetClass="entr" presetSubtype="8" fill="hold" grpId="1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100"/>
                            </p:stCondLst>
                            <p:childTnLst>
                              <p:par>
                                <p:cTn id="90" presetID="26" presetClass="entr" presetSubtype="0" fill="hold" grpId="1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100"/>
                            </p:stCondLst>
                            <p:childTnLst>
                              <p:par>
                                <p:cTn id="95" presetID="23" presetClass="entr" presetSubtype="0" fill="hold" grpId="1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100"/>
                            </p:stCondLst>
                            <p:childTnLst>
                              <p:par>
                                <p:cTn id="100" presetID="10" presetClass="entr" presetSubtype="0" fill="hold" grpId="1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100"/>
                            </p:stCondLst>
                            <p:childTnLst>
                              <p:par>
                                <p:cTn id="105" presetID="10" presetClass="entr" presetSubtype="0" fill="hold" grpId="2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100"/>
                            </p:stCondLst>
                            <p:childTnLst>
                              <p:par>
                                <p:cTn id="110" presetID="2" presetClass="entr" presetSubtype="2" fill="hold" grpId="2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fill="hold">
                            <p:stCondLst>
                              <p:cond delay="100"/>
                            </p:stCondLst>
                            <p:childTnLst>
                              <p:par>
                                <p:cTn id="115" presetID="23" presetClass="entr" presetSubtype="0" fill="hold" grpId="2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100"/>
                            </p:stCondLst>
                            <p:childTnLst>
                              <p:par>
                                <p:cTn id="120" presetID="2" presetClass="entr" presetSubtype="4" fill="hold" grpId="2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2800">
                <a:solidFill>
                  <a:srgbClr val="FFFFFF"/>
                </a:solidFill>
                <a:latin typeface="Inter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540D6"/>
                </a:solidFill>
                <a:latin typeface="Inter"/>
              </a:rPr>
              <a:t>iPOST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Call Center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0A2A8A"/>
                </a:solidFill>
                <a:latin typeface="Inter"/>
              </a:rPr>
              <a:t>Interfeys ko'rinishi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Zamonaviy va sodda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77440"/>
            <a:ext cx="566928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Inter"/>
              </a:rPr>
              <a:t>📊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334055"/>
                </a:solidFill>
                <a:latin typeface="Inter"/>
              </a:rPr>
              <a:t>Bugun: 24 ta murojaat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✓ Hal etildi: 18 ta | ⏳ Jarayonda: 6 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11880"/>
            <a:ext cx="1691640" cy="502920"/>
          </a:xfrm>
          <a:prstGeom prst="roundRect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611880"/>
            <a:ext cx="169164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Inter"/>
              </a:rPr>
              <a:t>24 · Murojaat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3611880"/>
            <a:ext cx="169164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3611880"/>
            <a:ext cx="169164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Inter"/>
              </a:rPr>
              <a:t>18 · Hal etildi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611880"/>
            <a:ext cx="169164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3611880"/>
            <a:ext cx="169164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Inter"/>
              </a:rPr>
              <a:t>06 · Faol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377440"/>
            <a:ext cx="54864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468880"/>
            <a:ext cx="5120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Inter"/>
              </a:rPr>
              <a:t>🎯 Pipeline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2788920"/>
            <a:ext cx="1691640" cy="36576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788920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nter"/>
              </a:rPr>
              <a:t>Yangi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200400"/>
            <a:ext cx="169164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Inter"/>
              </a:rPr>
              <a:t>4 ta
murojaat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788920"/>
            <a:ext cx="1691640" cy="365760"/>
          </a:xfrm>
          <a:prstGeom prst="roundRect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788920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nter"/>
              </a:rPr>
              <a:t>Jarayonda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00400"/>
            <a:ext cx="169164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Inter"/>
              </a:rPr>
              <a:t>6 ta
murojaat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12680" y="2788920"/>
            <a:ext cx="169164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2788920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Inter"/>
              </a:rPr>
              <a:t>Hal etildi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3200400"/>
            <a:ext cx="169164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Inter"/>
              </a:rPr>
              <a:t>12 ta
murojaat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434840"/>
            <a:ext cx="3657600" cy="1920240"/>
          </a:xfrm>
          <a:prstGeom prst="roundRect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Inter"/>
              </a:rPr>
              <a:t>📞 Telefon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93776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ourier New"/>
              </a:rPr>
              <a:t>940843725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5577840"/>
            <a:ext cx="2743200" cy="5486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577840"/>
            <a:ext cx="2743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Inter"/>
              </a:rPr>
              <a:t>📞 Qo'ng'iroq qilish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4434840"/>
            <a:ext cx="7498079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45720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Inter"/>
              </a:rPr>
              <a:t>🧾 Qo'ng'iroqlar tarixi (so'nggi 3 ta)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4937760"/>
            <a:ext cx="137160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334055"/>
                </a:solidFill>
                <a:latin typeface="Inter"/>
              </a:rPr>
              <a:t>Ahmad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4937760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334055"/>
                </a:solidFill>
                <a:latin typeface="Courier New"/>
              </a:rPr>
              <a:t>940843725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63840" y="4983480"/>
            <a:ext cx="1371600" cy="2743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0" y="498348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Inter"/>
              </a:rPr>
              <a:t>Bog'landi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4937760"/>
            <a:ext cx="137160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334055"/>
                </a:solidFill>
                <a:latin typeface="Courier New"/>
              </a:rPr>
              <a:t>02:34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0" y="5349240"/>
            <a:ext cx="137160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334055"/>
                </a:solidFill>
                <a:latin typeface="Inter"/>
              </a:rPr>
              <a:t>Salim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349240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334055"/>
                </a:solidFill>
                <a:latin typeface="Courier New"/>
              </a:rPr>
              <a:t>905522144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63840" y="5394960"/>
            <a:ext cx="1371600" cy="27432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63840" y="539496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Inter"/>
              </a:rPr>
              <a:t>Javob yo'q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18320" y="5349240"/>
            <a:ext cx="137160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334055"/>
                </a:solidFill>
                <a:latin typeface="Courier New"/>
              </a:rPr>
              <a:t>00:18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0560" y="5760720"/>
            <a:ext cx="137160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334055"/>
                </a:solidFill>
                <a:latin typeface="Inter"/>
              </a:rPr>
              <a:t>Ahmad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5760720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334055"/>
                </a:solidFill>
                <a:latin typeface="Courier New"/>
              </a:rPr>
              <a:t>933311220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63840" y="5806440"/>
            <a:ext cx="1371600" cy="2743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Inter"/>
              </a:rPr>
              <a:t>Bog'landi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5760720"/>
            <a:ext cx="137160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334055"/>
                </a:solidFill>
                <a:latin typeface="Courier New"/>
              </a:rPr>
              <a:t>01:45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Inter"/>
              </a:rPr>
              <a:t>11 /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Inter"/>
              </a:rPr>
              <a:t>iPOST CRM · Executive Brief ·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3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30" presetID="47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100"/>
                            </p:stCondLst>
                            <p:childTnLst>
                              <p:par>
                                <p:cTn id="40" presetID="26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100"/>
                            </p:stCondLst>
                            <p:childTnLst>
                              <p:par>
                                <p:cTn id="45" presetID="23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100"/>
                            </p:stCondLst>
                            <p:childTnLst>
                              <p:par>
                                <p:cTn id="55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100"/>
                            </p:stCondLst>
                            <p:childTnLst>
                              <p:par>
                                <p:cTn id="60" presetID="2" presetClass="entr" presetSubtype="2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100"/>
                            </p:stCondLst>
                            <p:childTnLst>
                              <p:par>
                                <p:cTn id="65" presetID="23" presetClass="entr" presetSubtype="0" fill="hold" grpId="1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100"/>
                            </p:stCondLst>
                            <p:childTnLst>
                              <p:par>
                                <p:cTn id="70" presetID="2" presetClass="entr" presetSubtype="4" fill="hold" grpId="1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100"/>
                            </p:stCondLst>
                            <p:childTnLst>
                              <p:par>
                                <p:cTn id="75" presetID="10" presetClass="entr" presetSubtype="0" fill="hold" grpId="1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100"/>
                            </p:stCondLst>
                            <p:childTnLst>
                              <p:par>
                                <p:cTn id="80" presetID="47" presetClass="entr" presetSubtype="0" fill="hold" grpId="1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100"/>
                            </p:stCondLst>
                            <p:childTnLst>
                              <p:par>
                                <p:cTn id="85" presetID="2" presetClass="entr" presetSubtype="8" fill="hold" grpId="1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100"/>
                            </p:stCondLst>
                            <p:childTnLst>
                              <p:par>
                                <p:cTn id="90" presetID="26" presetClass="entr" presetSubtype="0" fill="hold" grpId="1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100"/>
                            </p:stCondLst>
                            <p:childTnLst>
                              <p:par>
                                <p:cTn id="95" presetID="23" presetClass="entr" presetSubtype="0" fill="hold" grpId="1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100"/>
                            </p:stCondLst>
                            <p:childTnLst>
                              <p:par>
                                <p:cTn id="100" presetID="10" presetClass="entr" presetSubtype="0" fill="hold" grpId="1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100"/>
                            </p:stCondLst>
                            <p:childTnLst>
                              <p:par>
                                <p:cTn id="105" presetID="10" presetClass="entr" presetSubtype="0" fill="hold" grpId="2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100"/>
                            </p:stCondLst>
                            <p:childTnLst>
                              <p:par>
                                <p:cTn id="110" presetID="2" presetClass="entr" presetSubtype="2" fill="hold" grpId="2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fill="hold">
                            <p:stCondLst>
                              <p:cond delay="100"/>
                            </p:stCondLst>
                            <p:childTnLst>
                              <p:par>
                                <p:cTn id="115" presetID="23" presetClass="entr" presetSubtype="0" fill="hold" grpId="2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100"/>
                            </p:stCondLst>
                            <p:childTnLst>
                              <p:par>
                                <p:cTn id="120" presetID="2" presetClass="entr" presetSubtype="4" fill="hold" grpId="2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2800">
                <a:solidFill>
                  <a:srgbClr val="FFFFFF"/>
                </a:solidFill>
                <a:latin typeface="Inter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540D6"/>
                </a:solidFill>
                <a:latin typeface="Inter"/>
              </a:rPr>
              <a:t>iPOST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Call Center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0A2A8A"/>
                </a:solidFill>
                <a:latin typeface="Inter"/>
              </a:rPr>
              <a:t>Xavfsizlik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Ma'lumotlar himoyasi va kirish boshqaruvi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774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5146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146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888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HTTPS shifrlash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7889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Barcha trafik TLS 1.3 orqali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3774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5080" y="25146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5146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59" y="246888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Role-based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59" y="27889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Admin va Operator alohida ruxsatlar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2918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34290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4290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⏱️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38328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Auto-logout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7033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Faollik bo'lmasa — sessiya yakunlanadi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2918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55080" y="34290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290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338328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Face 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59" y="37033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Biometrik tasdiqlash — kameradan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062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4360" y="43434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3434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☁️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297679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KV shifrli baza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6177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Upstash Redis — TLS + at-rest encryption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2062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55080" y="43434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43434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59" y="4297679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Backup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59" y="46177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JSON eksport - yo'qotilgan ma'lumotlarni qaytarish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1206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94360" y="52578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2578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🛡️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4440" y="5212079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OWASP top-10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34440" y="55321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XSS, SQL injection, CSRF himoya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120640"/>
            <a:ext cx="548640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5080" y="52578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5080" y="52578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/>
              <a:t>📊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5159" y="5212079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334055"/>
                </a:solidFill>
                <a:latin typeface="Inter"/>
              </a:rPr>
              <a:t>Audit log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59" y="5532120"/>
            <a:ext cx="46177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Kim qachon nima o'zgartirgan — yozib boriladi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Inter"/>
              </a:rPr>
              <a:t>12 / 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Inter"/>
              </a:rPr>
              <a:t>iPOST CRM · Executive Brief ·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3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30" presetID="47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100"/>
                            </p:stCondLst>
                            <p:childTnLst>
                              <p:par>
                                <p:cTn id="40" presetID="26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100"/>
                            </p:stCondLst>
                            <p:childTnLst>
                              <p:par>
                                <p:cTn id="45" presetID="23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100"/>
                            </p:stCondLst>
                            <p:childTnLst>
                              <p:par>
                                <p:cTn id="55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100"/>
                            </p:stCondLst>
                            <p:childTnLst>
                              <p:par>
                                <p:cTn id="60" presetID="2" presetClass="entr" presetSubtype="2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100"/>
                            </p:stCondLst>
                            <p:childTnLst>
                              <p:par>
                                <p:cTn id="65" presetID="23" presetClass="entr" presetSubtype="0" fill="hold" grpId="1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100"/>
                            </p:stCondLst>
                            <p:childTnLst>
                              <p:par>
                                <p:cTn id="70" presetID="2" presetClass="entr" presetSubtype="4" fill="hold" grpId="1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100"/>
                            </p:stCondLst>
                            <p:childTnLst>
                              <p:par>
                                <p:cTn id="75" presetID="10" presetClass="entr" presetSubtype="0" fill="hold" grpId="1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100"/>
                            </p:stCondLst>
                            <p:childTnLst>
                              <p:par>
                                <p:cTn id="80" presetID="47" presetClass="entr" presetSubtype="0" fill="hold" grpId="1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100"/>
                            </p:stCondLst>
                            <p:childTnLst>
                              <p:par>
                                <p:cTn id="85" presetID="2" presetClass="entr" presetSubtype="8" fill="hold" grpId="1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100"/>
                            </p:stCondLst>
                            <p:childTnLst>
                              <p:par>
                                <p:cTn id="90" presetID="26" presetClass="entr" presetSubtype="0" fill="hold" grpId="1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100"/>
                            </p:stCondLst>
                            <p:childTnLst>
                              <p:par>
                                <p:cTn id="95" presetID="23" presetClass="entr" presetSubtype="0" fill="hold" grpId="1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100"/>
                            </p:stCondLst>
                            <p:childTnLst>
                              <p:par>
                                <p:cTn id="100" presetID="10" presetClass="entr" presetSubtype="0" fill="hold" grpId="1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100"/>
                            </p:stCondLst>
                            <p:childTnLst>
                              <p:par>
                                <p:cTn id="105" presetID="10" presetClass="entr" presetSubtype="0" fill="hold" grpId="2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100"/>
                            </p:stCondLst>
                            <p:childTnLst>
                              <p:par>
                                <p:cTn id="110" presetID="2" presetClass="entr" presetSubtype="2" fill="hold" grpId="2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fill="hold">
                            <p:stCondLst>
                              <p:cond delay="100"/>
                            </p:stCondLst>
                            <p:childTnLst>
                              <p:par>
                                <p:cTn id="115" presetID="23" presetClass="entr" presetSubtype="0" fill="hold" grpId="2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100"/>
                            </p:stCondLst>
                            <p:childTnLst>
                              <p:par>
                                <p:cTn id="120" presetID="2" presetClass="entr" presetSubtype="4" fill="hold" grpId="2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2800">
                <a:solidFill>
                  <a:srgbClr val="FFFFFF"/>
                </a:solidFill>
                <a:latin typeface="Inter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540D6"/>
                </a:solidFill>
                <a:latin typeface="Inter"/>
              </a:rPr>
              <a:t>iPOST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4008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Inter"/>
              </a:rPr>
              <a:t>Call Center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 i="0">
                <a:solidFill>
                  <a:srgbClr val="0A2A8A"/>
                </a:solidFill>
                <a:latin typeface="Inter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Keyingi yangiliklar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2287" y="2377440"/>
            <a:ext cx="2743200" cy="3200400"/>
          </a:xfrm>
          <a:prstGeom prst="roundRect">
            <a:avLst/>
          </a:prstGeom>
          <a:solidFill>
            <a:srgbClr val="10B981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287" y="251460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Q1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287" y="28346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Asos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12367" y="3291840"/>
            <a:ext cx="1463040" cy="274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2367" y="3291840"/>
            <a:ext cx="146304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1" i="0">
                <a:solidFill>
                  <a:srgbClr val="10B981"/>
                </a:solidFill>
                <a:latin typeface="Inter"/>
              </a:rPr>
              <a:t>✓ AKTUAL</a:t>
            </a:r>
          </a:p>
        </p:txBody>
      </p:sp>
      <p:sp>
        <p:nvSpPr>
          <p:cNvPr id="14" name="Oval 13"/>
          <p:cNvSpPr/>
          <p:nvPr/>
        </p:nvSpPr>
        <p:spPr>
          <a:xfrm>
            <a:off x="746607" y="3840479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0927" y="3749039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Inter"/>
              </a:rPr>
              <a:t>Murojaatlar</a:t>
            </a:r>
          </a:p>
        </p:txBody>
      </p:sp>
      <p:sp>
        <p:nvSpPr>
          <p:cNvPr id="16" name="Oval 15"/>
          <p:cNvSpPr/>
          <p:nvPr/>
        </p:nvSpPr>
        <p:spPr>
          <a:xfrm>
            <a:off x="746607" y="4251959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0927" y="4160520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Inter"/>
              </a:rPr>
              <a:t>Pipeline</a:t>
            </a:r>
          </a:p>
        </p:txBody>
      </p:sp>
      <p:sp>
        <p:nvSpPr>
          <p:cNvPr id="18" name="Oval 17"/>
          <p:cNvSpPr/>
          <p:nvPr/>
        </p:nvSpPr>
        <p:spPr>
          <a:xfrm>
            <a:off x="746607" y="466344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0927" y="4572000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Inter"/>
              </a:rPr>
              <a:t>Face ID</a:t>
            </a:r>
          </a:p>
        </p:txBody>
      </p:sp>
      <p:sp>
        <p:nvSpPr>
          <p:cNvPr id="20" name="Oval 19"/>
          <p:cNvSpPr/>
          <p:nvPr/>
        </p:nvSpPr>
        <p:spPr>
          <a:xfrm>
            <a:off x="746607" y="5074919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0927" y="4983479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Inter"/>
              </a:rPr>
              <a:t>Telefon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06927" y="2377440"/>
            <a:ext cx="2743200" cy="3200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4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06927" y="251460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0540D6"/>
                </a:solidFill>
                <a:latin typeface="Inter"/>
              </a:rPr>
              <a:t>Q2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06927" y="28346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0540D6"/>
                </a:solidFill>
                <a:latin typeface="Inter"/>
              </a:rPr>
              <a:t>Kengaytirish</a:t>
            </a:r>
          </a:p>
        </p:txBody>
      </p:sp>
      <p:sp>
        <p:nvSpPr>
          <p:cNvPr id="25" name="Oval 24"/>
          <p:cNvSpPr/>
          <p:nvPr/>
        </p:nvSpPr>
        <p:spPr>
          <a:xfrm>
            <a:off x="3581247" y="3840479"/>
            <a:ext cx="182880" cy="18288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55567" y="3749039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334055"/>
                </a:solidFill>
                <a:latin typeface="Inter"/>
              </a:rPr>
              <a:t>Audit log</a:t>
            </a:r>
          </a:p>
        </p:txBody>
      </p:sp>
      <p:sp>
        <p:nvSpPr>
          <p:cNvPr id="27" name="Oval 26"/>
          <p:cNvSpPr/>
          <p:nvPr/>
        </p:nvSpPr>
        <p:spPr>
          <a:xfrm>
            <a:off x="3581247" y="4251959"/>
            <a:ext cx="182880" cy="18288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55567" y="4160520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334055"/>
                </a:solidFill>
                <a:latin typeface="Inter"/>
              </a:rPr>
              <a:t>PWA push</a:t>
            </a:r>
          </a:p>
        </p:txBody>
      </p:sp>
      <p:sp>
        <p:nvSpPr>
          <p:cNvPr id="29" name="Oval 28"/>
          <p:cNvSpPr/>
          <p:nvPr/>
        </p:nvSpPr>
        <p:spPr>
          <a:xfrm>
            <a:off x="3581247" y="4663440"/>
            <a:ext cx="182880" cy="18288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55567" y="4572000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334055"/>
                </a:solidFill>
                <a:latin typeface="Inter"/>
              </a:rPr>
              <a:t>QR scanner</a:t>
            </a:r>
          </a:p>
        </p:txBody>
      </p:sp>
      <p:sp>
        <p:nvSpPr>
          <p:cNvPr id="31" name="Oval 30"/>
          <p:cNvSpPr/>
          <p:nvPr/>
        </p:nvSpPr>
        <p:spPr>
          <a:xfrm>
            <a:off x="3581247" y="5074919"/>
            <a:ext cx="182880" cy="182880"/>
          </a:xfrm>
          <a:prstGeom prst="ellipse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55567" y="4983479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334055"/>
                </a:solidFill>
                <a:latin typeface="Inter"/>
              </a:rPr>
              <a:t>Telegram bot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1567" y="2377440"/>
            <a:ext cx="2743200" cy="3200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1567" y="251460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8B5CF6"/>
                </a:solidFill>
                <a:latin typeface="Inter"/>
              </a:rPr>
              <a:t>Q3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1567" y="28346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8B5CF6"/>
                </a:solidFill>
                <a:latin typeface="Inter"/>
              </a:rPr>
              <a:t>AI</a:t>
            </a:r>
          </a:p>
        </p:txBody>
      </p:sp>
      <p:sp>
        <p:nvSpPr>
          <p:cNvPr id="36" name="Oval 35"/>
          <p:cNvSpPr/>
          <p:nvPr/>
        </p:nvSpPr>
        <p:spPr>
          <a:xfrm>
            <a:off x="6415887" y="3840479"/>
            <a:ext cx="182880" cy="1828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90207" y="3749039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334055"/>
                </a:solidFill>
                <a:latin typeface="Inter"/>
              </a:rPr>
              <a:t>Avto-kategoriya</a:t>
            </a:r>
          </a:p>
        </p:txBody>
      </p:sp>
      <p:sp>
        <p:nvSpPr>
          <p:cNvPr id="38" name="Oval 37"/>
          <p:cNvSpPr/>
          <p:nvPr/>
        </p:nvSpPr>
        <p:spPr>
          <a:xfrm>
            <a:off x="6415887" y="4251959"/>
            <a:ext cx="182880" cy="1828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160520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334055"/>
                </a:solidFill>
                <a:latin typeface="Inter"/>
              </a:rPr>
              <a:t>Sentiment</a:t>
            </a:r>
          </a:p>
        </p:txBody>
      </p:sp>
      <p:sp>
        <p:nvSpPr>
          <p:cNvPr id="40" name="Oval 39"/>
          <p:cNvSpPr/>
          <p:nvPr/>
        </p:nvSpPr>
        <p:spPr>
          <a:xfrm>
            <a:off x="6415887" y="4663440"/>
            <a:ext cx="182880" cy="1828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90207" y="4572000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334055"/>
                </a:solidFill>
                <a:latin typeface="Inter"/>
              </a:rPr>
              <a:t>Chat bot</a:t>
            </a:r>
          </a:p>
        </p:txBody>
      </p:sp>
      <p:sp>
        <p:nvSpPr>
          <p:cNvPr id="42" name="Oval 41"/>
          <p:cNvSpPr/>
          <p:nvPr/>
        </p:nvSpPr>
        <p:spPr>
          <a:xfrm>
            <a:off x="6415887" y="5074919"/>
            <a:ext cx="182880" cy="1828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90207" y="4983479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334055"/>
                </a:solidFill>
                <a:latin typeface="Inter"/>
              </a:rPr>
              <a:t>Recommendation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76207" y="2377440"/>
            <a:ext cx="2743200" cy="3200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76207" y="251460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1" i="0">
                <a:solidFill>
                  <a:srgbClr val="F59E0B"/>
                </a:solidFill>
                <a:latin typeface="Inter"/>
              </a:rPr>
              <a:t>Q4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76207" y="28346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 i="0">
                <a:solidFill>
                  <a:srgbClr val="F59E0B"/>
                </a:solidFill>
                <a:latin typeface="Inter"/>
              </a:rPr>
              <a:t>Enterprise</a:t>
            </a:r>
          </a:p>
        </p:txBody>
      </p:sp>
      <p:sp>
        <p:nvSpPr>
          <p:cNvPr id="47" name="Oval 46"/>
          <p:cNvSpPr/>
          <p:nvPr/>
        </p:nvSpPr>
        <p:spPr>
          <a:xfrm>
            <a:off x="9250527" y="3840479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24847" y="3749039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334055"/>
                </a:solidFill>
                <a:latin typeface="Inter"/>
              </a:rPr>
              <a:t>SLA dashboard</a:t>
            </a:r>
          </a:p>
        </p:txBody>
      </p:sp>
      <p:sp>
        <p:nvSpPr>
          <p:cNvPr id="49" name="Oval 48"/>
          <p:cNvSpPr/>
          <p:nvPr/>
        </p:nvSpPr>
        <p:spPr>
          <a:xfrm>
            <a:off x="9250527" y="4251959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24847" y="4160520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334055"/>
                </a:solidFill>
                <a:latin typeface="Inter"/>
              </a:rPr>
              <a:t>Multi-branch</a:t>
            </a:r>
          </a:p>
        </p:txBody>
      </p:sp>
      <p:sp>
        <p:nvSpPr>
          <p:cNvPr id="51" name="Oval 50"/>
          <p:cNvSpPr/>
          <p:nvPr/>
        </p:nvSpPr>
        <p:spPr>
          <a:xfrm>
            <a:off x="9250527" y="4663440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24847" y="4572000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334055"/>
                </a:solidFill>
                <a:latin typeface="Inter"/>
              </a:rPr>
              <a:t>API public</a:t>
            </a:r>
          </a:p>
        </p:txBody>
      </p:sp>
      <p:sp>
        <p:nvSpPr>
          <p:cNvPr id="53" name="Oval 52"/>
          <p:cNvSpPr/>
          <p:nvPr/>
        </p:nvSpPr>
        <p:spPr>
          <a:xfrm>
            <a:off x="9250527" y="5074919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24847" y="4983479"/>
            <a:ext cx="2103120" cy="320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334055"/>
                </a:solidFill>
                <a:latin typeface="Inter"/>
              </a:rPr>
              <a:t>White-label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Inter"/>
              </a:rPr>
              <a:t>13 / 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Inter"/>
              </a:rPr>
              <a:t>iPOST CRM · Executive Brief ·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3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30" presetID="47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100"/>
                            </p:stCondLst>
                            <p:childTnLst>
                              <p:par>
                                <p:cTn id="40" presetID="26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100"/>
                            </p:stCondLst>
                            <p:childTnLst>
                              <p:par>
                                <p:cTn id="45" presetID="23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100"/>
                            </p:stCondLst>
                            <p:childTnLst>
                              <p:par>
                                <p:cTn id="55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100"/>
                            </p:stCondLst>
                            <p:childTnLst>
                              <p:par>
                                <p:cTn id="60" presetID="2" presetClass="entr" presetSubtype="2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100"/>
                            </p:stCondLst>
                            <p:childTnLst>
                              <p:par>
                                <p:cTn id="65" presetID="23" presetClass="entr" presetSubtype="0" fill="hold" grpId="1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100"/>
                            </p:stCondLst>
                            <p:childTnLst>
                              <p:par>
                                <p:cTn id="70" presetID="2" presetClass="entr" presetSubtype="4" fill="hold" grpId="1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100"/>
                            </p:stCondLst>
                            <p:childTnLst>
                              <p:par>
                                <p:cTn id="75" presetID="10" presetClass="entr" presetSubtype="0" fill="hold" grpId="1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100"/>
                            </p:stCondLst>
                            <p:childTnLst>
                              <p:par>
                                <p:cTn id="80" presetID="47" presetClass="entr" presetSubtype="0" fill="hold" grpId="1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100"/>
                            </p:stCondLst>
                            <p:childTnLst>
                              <p:par>
                                <p:cTn id="85" presetID="2" presetClass="entr" presetSubtype="8" fill="hold" grpId="1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100"/>
                            </p:stCondLst>
                            <p:childTnLst>
                              <p:par>
                                <p:cTn id="90" presetID="26" presetClass="entr" presetSubtype="0" fill="hold" grpId="1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100"/>
                            </p:stCondLst>
                            <p:childTnLst>
                              <p:par>
                                <p:cTn id="95" presetID="23" presetClass="entr" presetSubtype="0" fill="hold" grpId="1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100"/>
                            </p:stCondLst>
                            <p:childTnLst>
                              <p:par>
                                <p:cTn id="100" presetID="10" presetClass="entr" presetSubtype="0" fill="hold" grpId="1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100"/>
                            </p:stCondLst>
                            <p:childTnLst>
                              <p:par>
                                <p:cTn id="105" presetID="10" presetClass="entr" presetSubtype="0" fill="hold" grpId="2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100"/>
                            </p:stCondLst>
                            <p:childTnLst>
                              <p:par>
                                <p:cTn id="110" presetID="2" presetClass="entr" presetSubtype="2" fill="hold" grpId="2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0"/>
                      </p:stCondLst>
                      <p:childTnLst>
                        <p:par>
                          <p:cTn id="114" fill="hold">
                            <p:stCondLst>
                              <p:cond delay="100"/>
                            </p:stCondLst>
                            <p:childTnLst>
                              <p:par>
                                <p:cTn id="115" presetID="23" presetClass="entr" presetSubtype="0" fill="hold" grpId="2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100"/>
                            </p:stCondLst>
                            <p:childTnLst>
                              <p:par>
                                <p:cTn id="120" presetID="2" presetClass="entr" presetSubtype="4" fill="hold" grpId="2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4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103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4572000"/>
            <a:ext cx="4572000" cy="4572000"/>
          </a:xfrm>
          <a:prstGeom prst="ellipse">
            <a:avLst/>
          </a:prstGeom>
          <a:solidFill>
            <a:srgbClr val="103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0" y="-914400"/>
            <a:ext cx="3657600" cy="3657600"/>
          </a:xfrm>
          <a:prstGeom prst="roundRect">
            <a:avLst/>
          </a:prstGeom>
          <a:solidFill>
            <a:srgbClr val="154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400" b="0" i="1">
                <a:solidFill>
                  <a:srgbClr val="CCDDFF"/>
                </a:solidFill>
                <a:latin typeface="Inter"/>
              </a:rPr>
              <a:t>Call Center'ingizning yangi bosqichi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3657600"/>
            <a:ext cx="9418320" cy="1463040"/>
          </a:xfrm>
          <a:prstGeom prst="roundRect">
            <a:avLst/>
          </a:prstGeom>
          <a:solidFill>
            <a:srgbClr val="154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794760"/>
            <a:ext cx="94183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Inter"/>
              </a:rPr>
              <a:t>"Bir oy ichida operatorlarimning unumdorligi 3 baravarga oshdi"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43484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CCDDFF"/>
                </a:solidFill>
                <a:latin typeface="Inter"/>
              </a:rPr>
              <a:t>— Call Center boshlig'i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754880"/>
            <a:ext cx="94183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Inter"/>
              </a:rPr>
              <a:t>Mijoz qoniqishi 92% ga ko'tarildi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5486400"/>
            <a:ext cx="484632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5486400"/>
            <a:ext cx="48463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 i="0">
                <a:solidFill>
                  <a:srgbClr val="0540D6"/>
                </a:solidFill>
                <a:latin typeface="Inter"/>
              </a:rPr>
              <a:t>soneee.vercel.app  →  Hozir sinab ko'ring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 i="1">
                <a:solidFill>
                  <a:srgbClr val="CCDDFF"/>
                </a:solidFill>
                <a:latin typeface="Inter"/>
              </a:rPr>
              <a:t>2026 · iPOST Cargo — Yangi marja, yangi tezlik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3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100"/>
                            </p:stCondLst>
                            <p:childTnLst>
                              <p:par>
                                <p:cTn id="2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30" presetID="47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100"/>
                            </p:stCondLst>
                            <p:childTnLst>
                              <p:par>
                                <p:cTn id="40" presetID="26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100"/>
                            </p:stCondLst>
                            <p:childTnLst>
                              <p:par>
                                <p:cTn id="45" presetID="23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100"/>
                            </p:stCondLst>
                            <p:childTnLst>
                              <p:par>
                                <p:cTn id="50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100"/>
                            </p:stCondLst>
                            <p:childTnLst>
                              <p:par>
                                <p:cTn id="55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100"/>
                            </p:stCondLst>
                            <p:childTnLst>
                              <p:par>
                                <p:cTn id="60" presetID="2" presetClass="entr" presetSubtype="2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