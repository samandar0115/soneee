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28600" cy="68580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0"/>
            <a:ext cx="11960352" cy="182880"/>
          </a:xfrm>
          <a:prstGeom prst="roundRect">
            <a:avLst>
              <a:gd name="adj" fmla="val 8000"/>
            </a:avLst>
          </a:prstGeom>
          <a:solidFill>
            <a:srgbClr val="C2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7C00"/>
                </a:solidFill>
                <a:latin typeface="Inter"/>
              </a:rPr>
              <a:t>UMUMIY TANISHTIRISH · CARGO · CALL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Inter"/>
              </a:rPr>
              <a:t>iPOST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0CBDB"/>
                </a:solidFill>
                <a:latin typeface="Inter"/>
              </a:rPr>
              <a:t>Soneee uchun professional call center va logistika boshqaruv tizimi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NASHR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0A1B9"/>
                </a:solidFill>
                <a:latin typeface="Inter"/>
              </a:rPr>
              <a:t>Call center · Cargo logistics · Operator avtomatlashtirish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585216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Yangi murojaatlar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585216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Sklad navbati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62636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A8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Face ID login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626364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Vercel KV sync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28600" cy="68580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7C00"/>
                </a:solidFill>
                <a:latin typeface="Inter"/>
              </a:rPr>
              <a:t>01 MUAMMO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Inter"/>
              </a:rPr>
              <a:t>Avval qanday edi?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C0CBDB"/>
                </a:solidFill>
                <a:latin typeface="Inter"/>
              </a:rPr>
              <a:t>Ko'p kanaldan kelayotgan murojaatlar, qog'oz ro'yxat, xato ma'lumotlar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iPOST CRM — Virtual Control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32004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Inter"/>
              </a:rPr>
              <a:t>iPOST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Inter"/>
              </a:rPr>
              <a:t>Virtual Control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Inter"/>
              </a:rPr>
              <a:t>iPOST gacha bo'lgan holat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Operatorlar uchun kundalik qiyinchiliklar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371600" cy="54864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6880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08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Murojaatlar tartibsiz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214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Telegram, Instagram, telefon va javobsiz qo'ng'iroqlar — alohida ro'yxatlarda, dublikatlar va yo'qotishlar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974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3748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77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Excel va qog'oz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9008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Trek raqamlar Excel'da, vozvratlar daftarda, sklad ma'lumoti boshqa joyda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661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0616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546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Qidirish qiyin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587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Mijoz qo'ng'iroq qilsa, uning trek tarixi va sobiq murojaatlarini izlab topish 5-10 daqiqa olar edi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3484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47484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148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Yuk adashishi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72744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Aralashib ketgan yuklar — to'g'ri mijoz va yetkazib berish yo'nalishini topish murakkab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3035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34352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83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Statistika yo'q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59612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Kim qancha murojaat qildi, kim qancha hal etdi — aniq ko'rinmas edi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iPOST CRM — Virtual Control 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28600" cy="68580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7C00"/>
                </a:solidFill>
                <a:latin typeface="Inter"/>
              </a:rPr>
              <a:t>02 YECHIM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Inter"/>
              </a:rPr>
              <a:t>iPOST CRM nimadan iborat?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C0CBDB"/>
                </a:solidFill>
                <a:latin typeface="Inter"/>
              </a:rPr>
              <a:t>8 ta asosiy modul — bitta tizimda hamma narsa bog'langan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iPOST CRM — Virtual Control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32004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Inter"/>
              </a:rPr>
              <a:t>iPOST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Inter"/>
              </a:rPr>
              <a:t>Virtual Control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Inter"/>
              </a:rPr>
              <a:t>Modullar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Har biri o'z vazifasini bajaradi va boshqalar bilan bog'langan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371600" cy="54864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57C00"/>
                </a:solidFill>
                <a:latin typeface="Inter"/>
              </a:rPr>
              <a:t>YANGI MUROJAATLAR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/leads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Instagram, Telegram, telefon va javobsiz qo'ng'iroqlarni bitta navbatda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82880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83280" y="182880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2A8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011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A80F6"/>
                </a:solidFill>
                <a:latin typeface="Inter"/>
              </a:rPr>
              <a:t>MUROJAATLAR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3774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/tickets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06324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To'liq lifecycle: bosqich, izoh, ilova, hal etish, baholash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82880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182880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011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Inter"/>
              </a:rPr>
              <a:t>SKLAD NAVBATI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3774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/warehouse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06324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To'lov / Vozvrat / Ushlab qolingan — 3 sabab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82880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440" y="182880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2011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Inter"/>
              </a:rPr>
              <a:t>VOZVRAT YUKLAR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23774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/cargo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306324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BTS / EMU vozvrat ro'yxati va trek qidirish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5196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425196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434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Inter"/>
              </a:rPr>
              <a:t>QO'NG'IROQLAR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8006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/calls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48640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Softphone integratsiyasi va qo'ng'iroq tarixi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425196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83280" y="425196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C2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11880" y="4434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25100"/>
                </a:solidFill>
                <a:latin typeface="Inter"/>
              </a:rPr>
              <a:t>PIPELINE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48006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/pipeline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548640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Kanban — bosqichlar bo'yicha murojaatlarni surish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25196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09360" y="425196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4434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Inter"/>
              </a:rPr>
              <a:t>ANALYTIKA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8006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/analytics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48640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Operatorlar yuklamasi, SLA va vaqt statistikasi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35440" y="425196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35440" y="425196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64040" y="4434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Inter"/>
              </a:rPr>
              <a:t>BILIMLAR BAZASI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64040" y="48006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/knowledge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64040" y="548640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E'lonlar, tarif, filiallar — operator uchun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iPOST CRM — Virtual Control Room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32004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Inter"/>
              </a:rPr>
              <a:t>iPOST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Inter"/>
              </a:rPr>
              <a:t>Virtual Control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Inter"/>
              </a:rPr>
              <a:t>Yangi murojaatlar oqimi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Hech bir telefon raqami yo'qolmaydi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371600" cy="54864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19456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0896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46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Inter"/>
              </a:rPr>
              <a:t>Qabul qilish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49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Inter"/>
              </a:rPr>
              <a:t>Instagram, Telegram, telefon yoki javobsiz qo'ng'iroqdan kelgan raqamlarni bulk qabul qilish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017520"/>
            <a:ext cx="182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57C00"/>
                </a:solidFill>
                <a:latin typeface="Inter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19456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24028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10896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3246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Inter"/>
              </a:rPr>
              <a:t>Qo'ng'iroq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749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Inter"/>
              </a:rPr>
              <a:t>Softphone orqali qo'ng'iroq — vaqt avtomatik yoziladi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017520"/>
            <a:ext cx="182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57C00"/>
                </a:solidFill>
                <a:latin typeface="Inter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219456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224028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310896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3246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Inter"/>
              </a:rPr>
              <a:t>Tanlash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749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Inter"/>
              </a:rPr>
              <a:t>"Murojaat ochish" yoki "Info berildi" — operator qaror qiladi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017520"/>
            <a:ext cx="182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57C00"/>
                </a:solidFill>
                <a:latin typeface="Inter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219456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224028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310896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3246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Inter"/>
              </a:rPr>
              <a:t>Murojaat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749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Inter"/>
              </a:rPr>
              <a:t>Telefon va kanal avto-to'ldirilgan TicketModal ochiladi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3017520"/>
            <a:ext cx="182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57C00"/>
                </a:solidFill>
                <a:latin typeface="Inter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87000" y="219456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87000" y="224028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0" y="310896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246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Inter"/>
              </a:rPr>
              <a:t>Hal etish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3749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Inter"/>
              </a:rPr>
              <a:t>Bosqichdan bosqichga, ilovalar, izohlar, hal etilgan deb belgilash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iPOST CRM — Virtual Control Room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32004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Inter"/>
              </a:rPr>
              <a:t>iPOST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Inter"/>
              </a:rPr>
              <a:t>Virtual Control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Inter"/>
              </a:rPr>
              <a:t>Sklad navbati — 3 sabab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Trek + sabab + izoh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371600" cy="54864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19456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0896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46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Inter"/>
              </a:rPr>
              <a:t>Operator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49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Inter"/>
              </a:rPr>
              <a:t>Murojaat ichida trek qo'shadi, sababni belgilaydi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017520"/>
            <a:ext cx="182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57C00"/>
                </a:solidFill>
                <a:latin typeface="Inter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19456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24028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10896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3246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Inter"/>
              </a:rPr>
              <a:t>To'lov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749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Inter"/>
              </a:rPr>
              <a:t>💳 To'lovi endi qilingan — darhol omborga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017520"/>
            <a:ext cx="182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57C00"/>
                </a:solidFill>
                <a:latin typeface="Inter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219456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224028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310896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3246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Inter"/>
              </a:rPr>
              <a:t>Vozvrat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749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Inter"/>
              </a:rPr>
              <a:t>↩️ Vozvrat bo'lgan — mijozga qaytariladigan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017520"/>
            <a:ext cx="182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57C00"/>
                </a:solidFill>
                <a:latin typeface="Inter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219456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224028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310896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3246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Inter"/>
              </a:rPr>
              <a:t>Ushlangan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749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Inter"/>
              </a:rPr>
              <a:t>⏸️ Ushlab qolingan — sabab izohi majburiy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3017520"/>
            <a:ext cx="182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57C00"/>
                </a:solidFill>
                <a:latin typeface="Inter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87000" y="219456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87000" y="224028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0" y="310896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246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Inter"/>
              </a:rPr>
              <a:t>Chiqarish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3749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Inter"/>
              </a:rPr>
              <a:t>Ombor hodimi "Chiqarildi" tugmasini bosadi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iPOST CRM — Virtual Control Room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32004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Inter"/>
              </a:rPr>
              <a:t>iPOST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Inter"/>
              </a:rPr>
              <a:t>Virtual Control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Inter"/>
              </a:rPr>
              <a:t>Avantajalar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iPOST CRM nimani o'zgartiradi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371600" cy="54864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57784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5577840" cy="36576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Avval (qog'oz/Excel)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Inter"/>
              </a:rPr>
              <a:t>•  Trek qidirish: 5-10 daqiqa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1576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Inter"/>
              </a:rPr>
              <a:t>•  Dublikat murojaatlar: tez-tez uchraydi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99816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Inter"/>
              </a:rPr>
              <a:t>•  Sklad navbati ko'rinmaydi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83864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Inter"/>
              </a:rPr>
              <a:t>•  Kim aybdor — aniq emas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67912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Inter"/>
              </a:rPr>
              <a:t>•  Operator statistikasi yo'q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Inter"/>
              </a:rPr>
              <a:t>•  Mobile telefon orqali kira olmaysiz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3600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Inter"/>
              </a:rPr>
              <a:t>•  Ma'lumot yo'qolishi xavfi yuqori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828800"/>
            <a:ext cx="557784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1828800"/>
            <a:ext cx="5577840" cy="36576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874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iPOST CRM bilan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33172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Inter"/>
              </a:rPr>
              <a:t>•  Trek qidirish: 1-2 soniya (indeksli)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71576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Inter"/>
              </a:rPr>
              <a:t>•  Telefon + kanal bo'yicha avto-tekshiruv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99816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Inter"/>
              </a:rPr>
              <a:t>•  Sklad navbati real vaqtda sabab bilan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483864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Inter"/>
              </a:rPr>
              <a:t>•  Har bir o'zgarish history'da yoziladi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867912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Inter"/>
              </a:rPr>
              <a:t>•  Analytics — kim qancha, qancha hal etdi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2519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Inter"/>
              </a:rPr>
              <a:t>•  Telefon, planshet, PC — barchasidan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63600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Inter"/>
              </a:rPr>
              <a:t>•  Vercel KV + auto-backup, 100% saqlash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iPOST CRM — Virtual Control 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32004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Inter"/>
              </a:rPr>
              <a:t>iPOST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Inter"/>
              </a:rPr>
              <a:t>Virtual Control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Inter"/>
              </a:rPr>
              <a:t>Texnologiya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Zamonaviy, ishonchli, tez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371600" cy="54864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6880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⚛️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08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React 18 + Vite + 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214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Yuklash 1-2 sekund, real-time UI, type-safety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974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3748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☁️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77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Vercel KV (Upstash Redis)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9008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Per-collection delta sync, bandwidth ekonomi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661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0616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546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Face ID + Parol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587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face-api.js bilan yuz orqali kirish, agar bo'lmasa parol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3484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47484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148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BroadcastChannel + Polling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72744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Tab'lar orasida bir lahza, 5 sek polling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3035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34352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83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Tailwind + Framer Motion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59612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Mobil, planshet va PC — bitta UI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1722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21220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615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Auto-backup 7 kun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4648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Har kun localStorage'ga JSON snapshot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iPOST CRM — Virtual Control 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32004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Inter"/>
              </a:rPr>
              <a:t>iPOST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Inter"/>
              </a:rPr>
              <a:t>Virtual Control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Inter"/>
              </a:rPr>
              <a:t>Rollar va imkoniyatlar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Har bir hodim o'z ishida cheklangan vakolatga ega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371600" cy="54864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57C00"/>
                </a:solidFill>
                <a:latin typeface="Inter"/>
              </a:rPr>
              <a:t>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To'liq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Xodimlar, bosqichlar, kategoriyalar, sozlamalar, hisobotlar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82880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83280" y="182880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2A8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011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A80F6"/>
                </a:solidFill>
                <a:latin typeface="Inter"/>
              </a:rPr>
              <a:t>OPERATOR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3774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Murojaat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06324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Yangi murojaat, leads, qo'ng'iroq, sklad qo'shish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82880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182880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011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Inter"/>
              </a:rPr>
              <a:t>OMBOR HODIMI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3774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Sklad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06324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Sklad navbati — chiqarish va to'xtatib qo'yish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82880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440" y="182880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2011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Inter"/>
              </a:rPr>
              <a:t>MIJOZ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23774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/track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306324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Faqat o'zining trek raqami orqali status ko'rish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iPOST CRM — Virtual Control 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32004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Inter"/>
              </a:rPr>
              <a:t>iPOST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Inter"/>
              </a:rPr>
              <a:t>Virtual Control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Inter"/>
              </a:rPr>
              <a:t>Ma'lumot xavfsizligi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100% saqlash kafolati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371600" cy="54864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6880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🛡️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08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3 qatlam saqlash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214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localStorage + Vercel KV + Auto-backup (7 kun rotation)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974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3748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77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Darhol sinxron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9008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Har bir saqlash debounce'siz, await javob — toast bilan tasdiq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661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0616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546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sendBeacon flush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587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Sahifa yopilsa ham kutilayotgan o'zgarishlar yetkaziladi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3484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47484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148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Cross-device login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72744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Login + parol + Face descriptor KV'da, istalgan PC'dan kirish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3035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34352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83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Foto faqat lokal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59612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Xodim rasmi shu PC'da — KV joyni 90% kamaytiradi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iPOST CRM — Virtual Control 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32004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Inter"/>
              </a:rPr>
              <a:t>iPOST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Inter"/>
              </a:rPr>
              <a:t>Virtual Control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Inter"/>
              </a:rPr>
              <a:t>Kelajak rejalari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Keyingi versiyalarda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371600" cy="54864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6880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08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AI yordamchi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214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Murojaat turi va prioritetini avto-aniqlash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974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3748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77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Native mobile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9008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iOS va Android uchun React Native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661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0616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546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Power BI integratsiya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587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Chuqurroq tahlil va dashboard'lar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3484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47484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148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WhatsApp/Telegram 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72744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Mijoz savollariga avto-javob va eskalatsiya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3035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34352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83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Live chat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59612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Sayt ichida mijoz bilan to'g'ridan-to'g'ri muloqot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iPOST CRM — Virtual Control 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28600" cy="68580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Inter"/>
              </a:rPr>
              <a:t>Rahmat!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C0CBDB"/>
                </a:solidFill>
                <a:latin typeface="Inter"/>
              </a:rPr>
              <a:t>Soneee uchun mukammal call center va logistika — bitta tizimda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029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iPOST CRM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